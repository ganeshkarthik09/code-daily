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69" r:id="rId4"/>
    <p:sldId id="270" r:id="rId5"/>
    <p:sldId id="271" r:id="rId6"/>
    <p:sldId id="272" r:id="rId7"/>
    <p:sldId id="274" r:id="rId8"/>
    <p:sldId id="276" r:id="rId9"/>
    <p:sldId id="277" r:id="rId10"/>
    <p:sldId id="278" r:id="rId11"/>
    <p:sldId id="279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80" r:id="rId22"/>
    <p:sldId id="281" r:id="rId23"/>
    <p:sldId id="282" r:id="rId24"/>
    <p:sldId id="283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C7CC8-9D7F-B341-A72B-F3EC95F00019}" v="6" dt="2025-02-28T08:13:45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2C0B74-9C52-42D4-9F91-0B7E1EBE33D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133FB9-EA26-44DC-AF28-C32ED74B9531}">
      <dgm:prSet/>
      <dgm:spPr/>
      <dgm:t>
        <a:bodyPr/>
        <a:lstStyle/>
        <a:p>
          <a:r>
            <a:rPr lang="en-US"/>
            <a:t>A process is an instance of a computer program being executed using code and instructions</a:t>
          </a:r>
        </a:p>
      </dgm:t>
    </dgm:pt>
    <dgm:pt modelId="{AC84B5E4-E775-4950-99E7-18412520DFCF}" type="parTrans" cxnId="{D75CBEBD-4FC5-4D0E-9AF2-DF8646200D63}">
      <dgm:prSet/>
      <dgm:spPr/>
      <dgm:t>
        <a:bodyPr/>
        <a:lstStyle/>
        <a:p>
          <a:endParaRPr lang="en-US"/>
        </a:p>
      </dgm:t>
    </dgm:pt>
    <dgm:pt modelId="{749FC6C2-9E67-4E71-BBBC-4B26ED29BF41}" type="sibTrans" cxnId="{D75CBEBD-4FC5-4D0E-9AF2-DF8646200D63}">
      <dgm:prSet/>
      <dgm:spPr/>
      <dgm:t>
        <a:bodyPr/>
        <a:lstStyle/>
        <a:p>
          <a:endParaRPr lang="en-US"/>
        </a:p>
      </dgm:t>
    </dgm:pt>
    <dgm:pt modelId="{5500A92E-C92D-4CC2-8DB5-D341B813C422}">
      <dgm:prSet/>
      <dgm:spPr/>
      <dgm:t>
        <a:bodyPr/>
        <a:lstStyle/>
        <a:p>
          <a:r>
            <a:rPr lang="en-US" dirty="0"/>
            <a:t>Each process uses system resources like CPU and RAM to complete the specific tasks</a:t>
          </a:r>
        </a:p>
      </dgm:t>
    </dgm:pt>
    <dgm:pt modelId="{AB5A2C34-0237-4B18-9DEA-02CC02783DAE}" type="parTrans" cxnId="{2DBE476B-3CDF-4579-AFE4-852CE424D474}">
      <dgm:prSet/>
      <dgm:spPr/>
      <dgm:t>
        <a:bodyPr/>
        <a:lstStyle/>
        <a:p>
          <a:endParaRPr lang="en-US"/>
        </a:p>
      </dgm:t>
    </dgm:pt>
    <dgm:pt modelId="{34E590E9-FC93-4E86-812B-6FF9307D0B30}" type="sibTrans" cxnId="{2DBE476B-3CDF-4579-AFE4-852CE424D474}">
      <dgm:prSet/>
      <dgm:spPr/>
      <dgm:t>
        <a:bodyPr/>
        <a:lstStyle/>
        <a:p>
          <a:endParaRPr lang="en-US"/>
        </a:p>
      </dgm:t>
    </dgm:pt>
    <dgm:pt modelId="{B655FC39-B7A9-B344-AFB3-C46DE94EB931}" type="pres">
      <dgm:prSet presAssocID="{242C0B74-9C52-42D4-9F91-0B7E1EBE33D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388621-44DE-904B-B050-350B8B1BE5E8}" type="pres">
      <dgm:prSet presAssocID="{45133FB9-EA26-44DC-AF28-C32ED74B9531}" presName="hierRoot1" presStyleCnt="0"/>
      <dgm:spPr/>
    </dgm:pt>
    <dgm:pt modelId="{4C685AD8-983E-7640-BA10-3558DAC0E653}" type="pres">
      <dgm:prSet presAssocID="{45133FB9-EA26-44DC-AF28-C32ED74B9531}" presName="composite" presStyleCnt="0"/>
      <dgm:spPr/>
    </dgm:pt>
    <dgm:pt modelId="{E938BDEB-3B6C-E64D-A81F-2D94D97612A5}" type="pres">
      <dgm:prSet presAssocID="{45133FB9-EA26-44DC-AF28-C32ED74B9531}" presName="background" presStyleLbl="node0" presStyleIdx="0" presStyleCnt="2"/>
      <dgm:spPr/>
    </dgm:pt>
    <dgm:pt modelId="{95484CCA-2E66-B343-BCAC-13D084A4B329}" type="pres">
      <dgm:prSet presAssocID="{45133FB9-EA26-44DC-AF28-C32ED74B9531}" presName="text" presStyleLbl="fgAcc0" presStyleIdx="0" presStyleCnt="2">
        <dgm:presLayoutVars>
          <dgm:chPref val="3"/>
        </dgm:presLayoutVars>
      </dgm:prSet>
      <dgm:spPr/>
    </dgm:pt>
    <dgm:pt modelId="{622645E4-82B4-794B-A5D2-9C3D293F7F97}" type="pres">
      <dgm:prSet presAssocID="{45133FB9-EA26-44DC-AF28-C32ED74B9531}" presName="hierChild2" presStyleCnt="0"/>
      <dgm:spPr/>
    </dgm:pt>
    <dgm:pt modelId="{68161D38-3ACB-F84A-A299-DFF9AA3C17BA}" type="pres">
      <dgm:prSet presAssocID="{5500A92E-C92D-4CC2-8DB5-D341B813C422}" presName="hierRoot1" presStyleCnt="0"/>
      <dgm:spPr/>
    </dgm:pt>
    <dgm:pt modelId="{9FEC56ED-BE9D-7A4F-A86A-A7A957659AF1}" type="pres">
      <dgm:prSet presAssocID="{5500A92E-C92D-4CC2-8DB5-D341B813C422}" presName="composite" presStyleCnt="0"/>
      <dgm:spPr/>
    </dgm:pt>
    <dgm:pt modelId="{62BE28F6-9226-1446-A467-8B658A5373C7}" type="pres">
      <dgm:prSet presAssocID="{5500A92E-C92D-4CC2-8DB5-D341B813C422}" presName="background" presStyleLbl="node0" presStyleIdx="1" presStyleCnt="2"/>
      <dgm:spPr/>
    </dgm:pt>
    <dgm:pt modelId="{F93DF9BF-C12A-0142-8B7C-5FF8C20ACE9E}" type="pres">
      <dgm:prSet presAssocID="{5500A92E-C92D-4CC2-8DB5-D341B813C422}" presName="text" presStyleLbl="fgAcc0" presStyleIdx="1" presStyleCnt="2">
        <dgm:presLayoutVars>
          <dgm:chPref val="3"/>
        </dgm:presLayoutVars>
      </dgm:prSet>
      <dgm:spPr/>
    </dgm:pt>
    <dgm:pt modelId="{A21CC090-3F3C-8040-A921-1B0AD31F6AD3}" type="pres">
      <dgm:prSet presAssocID="{5500A92E-C92D-4CC2-8DB5-D341B813C422}" presName="hierChild2" presStyleCnt="0"/>
      <dgm:spPr/>
    </dgm:pt>
  </dgm:ptLst>
  <dgm:cxnLst>
    <dgm:cxn modelId="{2DBE476B-3CDF-4579-AFE4-852CE424D474}" srcId="{242C0B74-9C52-42D4-9F91-0B7E1EBE33D3}" destId="{5500A92E-C92D-4CC2-8DB5-D341B813C422}" srcOrd="1" destOrd="0" parTransId="{AB5A2C34-0237-4B18-9DEA-02CC02783DAE}" sibTransId="{34E590E9-FC93-4E86-812B-6FF9307D0B30}"/>
    <dgm:cxn modelId="{0B177299-96E3-4D44-8D99-BA47C6CC87C8}" type="presOf" srcId="{5500A92E-C92D-4CC2-8DB5-D341B813C422}" destId="{F93DF9BF-C12A-0142-8B7C-5FF8C20ACE9E}" srcOrd="0" destOrd="0" presId="urn:microsoft.com/office/officeart/2005/8/layout/hierarchy1"/>
    <dgm:cxn modelId="{12BA39AD-8635-CD40-B822-933D96BC6C20}" type="presOf" srcId="{45133FB9-EA26-44DC-AF28-C32ED74B9531}" destId="{95484CCA-2E66-B343-BCAC-13D084A4B329}" srcOrd="0" destOrd="0" presId="urn:microsoft.com/office/officeart/2005/8/layout/hierarchy1"/>
    <dgm:cxn modelId="{D75CBEBD-4FC5-4D0E-9AF2-DF8646200D63}" srcId="{242C0B74-9C52-42D4-9F91-0B7E1EBE33D3}" destId="{45133FB9-EA26-44DC-AF28-C32ED74B9531}" srcOrd="0" destOrd="0" parTransId="{AC84B5E4-E775-4950-99E7-18412520DFCF}" sibTransId="{749FC6C2-9E67-4E71-BBBC-4B26ED29BF41}"/>
    <dgm:cxn modelId="{FFC762FE-AEF6-9647-8683-3A7A299377F5}" type="presOf" srcId="{242C0B74-9C52-42D4-9F91-0B7E1EBE33D3}" destId="{B655FC39-B7A9-B344-AFB3-C46DE94EB931}" srcOrd="0" destOrd="0" presId="urn:microsoft.com/office/officeart/2005/8/layout/hierarchy1"/>
    <dgm:cxn modelId="{B727DD00-4360-DC45-8F98-E87A6F9E1638}" type="presParOf" srcId="{B655FC39-B7A9-B344-AFB3-C46DE94EB931}" destId="{36388621-44DE-904B-B050-350B8B1BE5E8}" srcOrd="0" destOrd="0" presId="urn:microsoft.com/office/officeart/2005/8/layout/hierarchy1"/>
    <dgm:cxn modelId="{179C150B-1931-B641-8927-311AAD99F49B}" type="presParOf" srcId="{36388621-44DE-904B-B050-350B8B1BE5E8}" destId="{4C685AD8-983E-7640-BA10-3558DAC0E653}" srcOrd="0" destOrd="0" presId="urn:microsoft.com/office/officeart/2005/8/layout/hierarchy1"/>
    <dgm:cxn modelId="{1FD24006-0A68-D340-9726-36AD55156404}" type="presParOf" srcId="{4C685AD8-983E-7640-BA10-3558DAC0E653}" destId="{E938BDEB-3B6C-E64D-A81F-2D94D97612A5}" srcOrd="0" destOrd="0" presId="urn:microsoft.com/office/officeart/2005/8/layout/hierarchy1"/>
    <dgm:cxn modelId="{E8F1DF73-2F43-B14B-8461-DA4378EFE578}" type="presParOf" srcId="{4C685AD8-983E-7640-BA10-3558DAC0E653}" destId="{95484CCA-2E66-B343-BCAC-13D084A4B329}" srcOrd="1" destOrd="0" presId="urn:microsoft.com/office/officeart/2005/8/layout/hierarchy1"/>
    <dgm:cxn modelId="{D486F403-B4A6-C542-B2B3-EE995C6714BE}" type="presParOf" srcId="{36388621-44DE-904B-B050-350B8B1BE5E8}" destId="{622645E4-82B4-794B-A5D2-9C3D293F7F97}" srcOrd="1" destOrd="0" presId="urn:microsoft.com/office/officeart/2005/8/layout/hierarchy1"/>
    <dgm:cxn modelId="{72CFFC6A-8527-B44E-BA10-BE419DC04E41}" type="presParOf" srcId="{B655FC39-B7A9-B344-AFB3-C46DE94EB931}" destId="{68161D38-3ACB-F84A-A299-DFF9AA3C17BA}" srcOrd="1" destOrd="0" presId="urn:microsoft.com/office/officeart/2005/8/layout/hierarchy1"/>
    <dgm:cxn modelId="{0EC29623-0BBF-464D-AF4E-119AFDB409B4}" type="presParOf" srcId="{68161D38-3ACB-F84A-A299-DFF9AA3C17BA}" destId="{9FEC56ED-BE9D-7A4F-A86A-A7A957659AF1}" srcOrd="0" destOrd="0" presId="urn:microsoft.com/office/officeart/2005/8/layout/hierarchy1"/>
    <dgm:cxn modelId="{EF72CF29-941D-3E43-80D3-FD7B0D4BC50E}" type="presParOf" srcId="{9FEC56ED-BE9D-7A4F-A86A-A7A957659AF1}" destId="{62BE28F6-9226-1446-A467-8B658A5373C7}" srcOrd="0" destOrd="0" presId="urn:microsoft.com/office/officeart/2005/8/layout/hierarchy1"/>
    <dgm:cxn modelId="{5569FD4D-E199-3645-A903-EBD6C61AEF94}" type="presParOf" srcId="{9FEC56ED-BE9D-7A4F-A86A-A7A957659AF1}" destId="{F93DF9BF-C12A-0142-8B7C-5FF8C20ACE9E}" srcOrd="1" destOrd="0" presId="urn:microsoft.com/office/officeart/2005/8/layout/hierarchy1"/>
    <dgm:cxn modelId="{9957DBAA-CD63-AC46-847E-59C2664CE4E8}" type="presParOf" srcId="{68161D38-3ACB-F84A-A299-DFF9AA3C17BA}" destId="{A21CC090-3F3C-8040-A921-1B0AD31F6AD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38BDEB-3B6C-E64D-A81F-2D94D97612A5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84CCA-2E66-B343-BCAC-13D084A4B329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 process is an instance of a computer program being executed using code and instructions</a:t>
          </a:r>
        </a:p>
      </dsp:txBody>
      <dsp:txXfrm>
        <a:off x="608661" y="692298"/>
        <a:ext cx="4508047" cy="2799040"/>
      </dsp:txXfrm>
    </dsp:sp>
    <dsp:sp modelId="{62BE28F6-9226-1446-A467-8B658A5373C7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DF9BF-C12A-0142-8B7C-5FF8C20ACE9E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Each process uses system resources like CPU and RAM to complete the specific tasks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E1486-A676-5C4A-B23A-F2E7DF71B6E6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FA88A-66A0-AE4A-A102-8CEED9A65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8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7">
            <a:extLst>
              <a:ext uri="{FF2B5EF4-FFF2-40B4-BE49-F238E27FC236}">
                <a16:creationId xmlns:a16="http://schemas.microsoft.com/office/drawing/2014/main" id="{BC901A95-7256-D29B-F784-4743BB989EF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018D43-977E-5643-AC60-011590848B61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FA8E442B-C7C4-1549-ED8E-DBB6152DE6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0663" y="812800"/>
            <a:ext cx="7105650" cy="39973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Text Box 2">
            <a:extLst>
              <a:ext uri="{FF2B5EF4-FFF2-40B4-BE49-F238E27FC236}">
                <a16:creationId xmlns:a16="http://schemas.microsoft.com/office/drawing/2014/main" id="{F57B7B33-B505-4D74-B223-95E015ECB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37263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7">
            <a:extLst>
              <a:ext uri="{FF2B5EF4-FFF2-40B4-BE49-F238E27FC236}">
                <a16:creationId xmlns:a16="http://schemas.microsoft.com/office/drawing/2014/main" id="{72018E71-1CBA-042A-DE14-F5DFB85E20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C06389-92C0-B544-A433-FE1FA31CE6A2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86A3ABDC-F5E6-0A45-E50B-217446E684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2887" cy="39925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Text Box 2">
            <a:extLst>
              <a:ext uri="{FF2B5EF4-FFF2-40B4-BE49-F238E27FC236}">
                <a16:creationId xmlns:a16="http://schemas.microsoft.com/office/drawing/2014/main" id="{77BE7392-3F28-F471-C65F-0DF991969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32500" cy="479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7">
            <a:extLst>
              <a:ext uri="{FF2B5EF4-FFF2-40B4-BE49-F238E27FC236}">
                <a16:creationId xmlns:a16="http://schemas.microsoft.com/office/drawing/2014/main" id="{AC65783A-8A71-D9F9-4DA2-447F27A1E9C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C49BB5-EB8F-E04D-9474-72F39AE254AC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CE85E95A-EAB2-61DE-E82F-05F2FEBBD6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2887" cy="39925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ECE8A965-2F06-3157-02B8-E5800BB70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32500" cy="479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>
            <a:extLst>
              <a:ext uri="{FF2B5EF4-FFF2-40B4-BE49-F238E27FC236}">
                <a16:creationId xmlns:a16="http://schemas.microsoft.com/office/drawing/2014/main" id="{F184DC4C-40C1-EFA0-916F-2081BE7780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0F1E30-74A4-FA4D-B9BD-B2F4B1520D6A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191259E3-2CC6-5BAC-4062-61C9D0D6B1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2887" cy="39925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Text Box 2">
            <a:extLst>
              <a:ext uri="{FF2B5EF4-FFF2-40B4-BE49-F238E27FC236}">
                <a16:creationId xmlns:a16="http://schemas.microsoft.com/office/drawing/2014/main" id="{D6CBBD4E-97D2-F940-F373-876518FCA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32500" cy="479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7">
            <a:extLst>
              <a:ext uri="{FF2B5EF4-FFF2-40B4-BE49-F238E27FC236}">
                <a16:creationId xmlns:a16="http://schemas.microsoft.com/office/drawing/2014/main" id="{7BF3C9E4-75F5-DF41-A01E-E62010DE743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2A714CA-0A8E-024F-8B12-23D09BAE6D21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30B21C77-647B-96BE-4C13-10148D178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2887" cy="39925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Text Box 2">
            <a:extLst>
              <a:ext uri="{FF2B5EF4-FFF2-40B4-BE49-F238E27FC236}">
                <a16:creationId xmlns:a16="http://schemas.microsoft.com/office/drawing/2014/main" id="{AA8D92A0-6401-CB9D-CAB7-6A02F9E6F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32500" cy="479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7">
            <a:extLst>
              <a:ext uri="{FF2B5EF4-FFF2-40B4-BE49-F238E27FC236}">
                <a16:creationId xmlns:a16="http://schemas.microsoft.com/office/drawing/2014/main" id="{4029F55B-8311-6D0C-ABED-4D05077C87D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5B78A9-8235-7248-B020-A21D2D66DB0C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7A1DA649-C839-04F7-1FCF-F460BD60E2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2887" cy="39925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B1A527F9-B1A7-75DC-F81A-54CCFF672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078413"/>
            <a:ext cx="6032500" cy="479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7">
            <a:extLst>
              <a:ext uri="{FF2B5EF4-FFF2-40B4-BE49-F238E27FC236}">
                <a16:creationId xmlns:a16="http://schemas.microsoft.com/office/drawing/2014/main" id="{38569CF8-8D78-F55A-8AC8-C6FBE8A4CCB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077954-3DCE-524C-A480-DED9C5B6C026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57EBF5A8-667C-EE0C-5F8B-7AB89BFC27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1300" cy="39909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48882260-EFB5-203C-8BC9-1F1F8B7F8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30913" cy="47942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7">
            <a:extLst>
              <a:ext uri="{FF2B5EF4-FFF2-40B4-BE49-F238E27FC236}">
                <a16:creationId xmlns:a16="http://schemas.microsoft.com/office/drawing/2014/main" id="{D016980C-6B99-9D74-29F9-2C822D28F96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A0415B-F1A1-C547-B551-E9680815989C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6A70E2BD-4A9F-A9EF-2FDE-F94ACA247F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1300" cy="39909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F4E58D82-1CC9-055B-BEAF-9F99DB42E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30913" cy="47942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7">
            <a:extLst>
              <a:ext uri="{FF2B5EF4-FFF2-40B4-BE49-F238E27FC236}">
                <a16:creationId xmlns:a16="http://schemas.microsoft.com/office/drawing/2014/main" id="{E42B67D1-AC93-7C21-D68F-77E563FAAB7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117D21-23CE-5E4E-80BF-1688A142794D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2454F388-0F83-FBFD-EFAE-7CEDC0A21E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1300" cy="39909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A80CAFD9-60EA-679F-7CDE-055CA411F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30913" cy="47942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7">
            <a:extLst>
              <a:ext uri="{FF2B5EF4-FFF2-40B4-BE49-F238E27FC236}">
                <a16:creationId xmlns:a16="http://schemas.microsoft.com/office/drawing/2014/main" id="{01A7B351-FFDA-A4E6-8586-419086B4EE1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FFAAD-618C-324A-B681-611592BE15E0}" type="slidenum">
              <a:rPr lang="en-US" altLang="en-US" sz="1400">
                <a:latin typeface="Open Sans" panose="020B0606030504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400">
              <a:latin typeface="Open Sans" panose="020B0606030504020204" pitchFamily="34" charset="0"/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F853E3DE-3994-04EA-1CA6-421590074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12800"/>
            <a:ext cx="5321300" cy="39909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639E5E3A-FB61-3600-DAE2-9B237544A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30913" cy="479425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FA88A-66A0-AE4A-A102-8CEED9A65E6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3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63B1-803E-D052-FC39-B343EAA4A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19991-FD8F-FC4F-A7C9-B69E12FF5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43E1A-3872-6B94-ED38-63C07263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A60DD-2528-FE1B-B5F3-31CD48FE2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03500-1B34-00A9-0629-3F38AA3B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0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1B84-2CEF-2DF3-892E-B306E3C9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FF63C-732A-2900-3F5C-24366FB1F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17AC3-A2B5-F1A6-CDC0-31B2C8938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57D9E-78F6-0CF7-A455-A42EDDE3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C65B-E2F1-2F79-1AAD-B9E7D050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49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23D8-042D-ED89-0FF3-0F289B38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4D431-873C-673A-00B2-6CB1E643B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9357E-8104-7C24-BDCF-0A06CE7C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2978-420C-D24D-9797-A926B0DA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E1B03-B380-1D46-7EBE-DB661C82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8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C93B6-577F-696A-45E0-18B0E1B1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5CF8E-5227-E802-82B9-78092DEFF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B03A5-CBF6-7AD1-C83B-3774D58FE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5DA4B-F479-6FEF-0A75-864B699C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89F4F-9602-F4C4-F9D7-F5AFAE3F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F58C0-D1FC-8D83-613F-899EF477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6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C884-5E2E-7BE0-CA8C-E544D62E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BCDDA-B7E8-3290-3A36-39BE034C6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5E48C-8A28-B9E8-4598-2D54CB3D4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6B302-C9FF-8B87-091B-2C7983916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F13EBC-79C5-1F04-72D4-4DEEF62C1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7802-48E2-195D-F483-DD3E7719C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E4776B-DEC7-DAF7-40AB-AC6B023D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F575E5-76E7-A6FF-7372-CE64723C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2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CAFB-0641-964B-E0E1-FDB01C90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8F9CE2-2284-28EE-13B0-9EDB42B6C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6A3E0-82C5-CF8E-C639-03AA5C7C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3418D-414E-B59D-E263-CBA5AE0F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4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008620-7F98-5911-C64A-FB22F8F9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CE402-704F-2CA4-543D-6B46B31DA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CD51D-60FA-BDE1-049E-5F6AC649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2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A5E8-A219-2415-1206-B87CC07B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3A350-00C9-A561-DBCB-BB1CFFCC5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4BDD2-8F60-3E45-C6E4-1AC81BEF1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5CA4-9765-3C46-6F20-3818AB7C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7D893-8124-AE96-7079-85FD6B41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A61AB-79CF-C234-F69B-13055995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0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ECBD-61B4-D30D-23FC-BAAE4F3B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DD610-C360-42C0-B6A0-F2D3A2793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642C5-878F-833D-25E9-DF935FC5C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BBEAF-EF1B-94FA-0321-88AD9C4F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A0728-9DC2-A66A-925F-34F947C7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C9BF6-C22C-F76D-0156-E7F1BD12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5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7D75-3855-CD60-3211-79DAC26B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DE6D7-0510-0C31-CF83-1B15B24F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F552F-E7A6-FF7B-CB72-E3A7F6A1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A0D83-0A63-0DD7-4CCB-45A3467E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9A1B0-48E9-0C4D-9281-35A6C3B7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78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07D2F-4EFB-BAC1-ACA9-E7F961B1E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BA112-D89B-931A-B401-03BDC33CB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E4C69-F199-EB1A-3362-6DC3EE5A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6C3F5-6C31-CAE4-BCC5-97E2ECB0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65D8-A541-BDB7-FF19-F6554816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1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8EFED-877B-9E47-F065-4FAC90DF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C51A0-59B4-AE1E-873B-FA580101E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00069-9DE6-BCD2-61D5-49CCB8AF43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E73C8-B1FC-C845-A1D9-40D9968FF411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08734-ED7B-8C58-B587-BFF9E68D1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DC950-3909-545C-6CD8-8A1E0A2E3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B7AE5-5C32-CE46-BCCE-4D780FE4D8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1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204B-3A6D-4279-513D-DFC6D42887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Linux Process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BAD3E-7D64-856F-DF60-06B9265AF2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28-Feb-2025</a:t>
            </a:r>
          </a:p>
        </p:txBody>
      </p:sp>
    </p:spTree>
    <p:extLst>
      <p:ext uri="{BB962C8B-B14F-4D97-AF65-F5344CB8AC3E}">
        <p14:creationId xmlns:p14="http://schemas.microsoft.com/office/powerpoint/2010/main" val="1582405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46" name="Rectangle 1">
            <a:extLst>
              <a:ext uri="{FF2B5EF4-FFF2-40B4-BE49-F238E27FC236}">
                <a16:creationId xmlns:a16="http://schemas.microsoft.com/office/drawing/2014/main" id="{0747F1A1-BA4C-BE21-799F-AB6CACB1C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 sz="4000">
                <a:solidFill>
                  <a:srgbClr val="FFFFFF"/>
                </a:solidFill>
              </a:rPr>
              <a:t>What is a process?</a:t>
            </a:r>
          </a:p>
        </p:txBody>
      </p:sp>
      <p:graphicFrame>
        <p:nvGraphicFramePr>
          <p:cNvPr id="6149" name="Rectangle 2">
            <a:extLst>
              <a:ext uri="{FF2B5EF4-FFF2-40B4-BE49-F238E27FC236}">
                <a16:creationId xmlns:a16="http://schemas.microsoft.com/office/drawing/2014/main" id="{1E1CBE3F-C8B7-6838-53E8-F11A1F186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83438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>
            <a:extLst>
              <a:ext uri="{FF2B5EF4-FFF2-40B4-BE49-F238E27FC236}">
                <a16:creationId xmlns:a16="http://schemas.microsoft.com/office/drawing/2014/main" id="{A4046E7C-C780-FC59-0023-FC0233EAA5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Descriptors</a:t>
            </a:r>
          </a:p>
        </p:txBody>
      </p:sp>
      <p:sp>
        <p:nvSpPr>
          <p:cNvPr id="487427" name="Rectangle 3">
            <a:extLst>
              <a:ext uri="{FF2B5EF4-FFF2-40B4-BE49-F238E27FC236}">
                <a16:creationId xmlns:a16="http://schemas.microsoft.com/office/drawing/2014/main" id="{0A51EF01-DEC3-08C1-6F91-2E2D53470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2600" dirty="0"/>
              <a:t>The kernel maintains info about each process in a process descriptor, of type </a:t>
            </a:r>
            <a:r>
              <a:rPr lang="en-US" altLang="en-US" sz="2600" b="1" dirty="0" err="1">
                <a:latin typeface="Courier New" panose="02070309020205020404" pitchFamily="49" charset="0"/>
              </a:rPr>
              <a:t>task_struct</a:t>
            </a:r>
            <a:r>
              <a:rPr lang="en-US" altLang="en-US" sz="2600" dirty="0"/>
              <a:t>.</a:t>
            </a:r>
          </a:p>
          <a:p>
            <a:pPr lvl="1"/>
            <a:r>
              <a:rPr lang="en-US" altLang="en-US" sz="2600" dirty="0"/>
              <a:t>See </a:t>
            </a:r>
            <a:r>
              <a:rPr lang="en-US" altLang="en-US" sz="2600" b="1" dirty="0">
                <a:latin typeface="Courier New" panose="02070309020205020404" pitchFamily="49" charset="0"/>
              </a:rPr>
              <a:t>include/</a:t>
            </a:r>
            <a:r>
              <a:rPr lang="en-US" altLang="en-US" sz="2600" b="1" dirty="0" err="1">
                <a:latin typeface="Courier New" panose="02070309020205020404" pitchFamily="49" charset="0"/>
              </a:rPr>
              <a:t>linux</a:t>
            </a:r>
            <a:r>
              <a:rPr lang="en-US" altLang="en-US" sz="2600" b="1" dirty="0">
                <a:latin typeface="Courier New" panose="02070309020205020404" pitchFamily="49" charset="0"/>
              </a:rPr>
              <a:t>/</a:t>
            </a:r>
            <a:r>
              <a:rPr lang="en-US" altLang="en-US" sz="2600" b="1" dirty="0" err="1">
                <a:latin typeface="Courier New" panose="02070309020205020404" pitchFamily="49" charset="0"/>
              </a:rPr>
              <a:t>sched.h</a:t>
            </a:r>
            <a:r>
              <a:rPr lang="en-US" altLang="en-US" sz="2600" b="1" dirty="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altLang="en-US" sz="2600" dirty="0"/>
              <a:t>Each process descriptor contains info such as  run-state of process, address space, list of open files, process priority </a:t>
            </a:r>
            <a:r>
              <a:rPr lang="en-US" altLang="en-US" sz="2600" dirty="0" err="1"/>
              <a:t>etc</a:t>
            </a:r>
            <a:r>
              <a:rPr lang="en-US" altLang="en-US" sz="2600" dirty="0"/>
              <a:t>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7" name="AutoShape 7">
            <a:extLst>
              <a:ext uri="{FF2B5EF4-FFF2-40B4-BE49-F238E27FC236}">
                <a16:creationId xmlns:a16="http://schemas.microsoft.com/office/drawing/2014/main" id="{E5960BCD-F88A-4F5B-3F18-0DC366E22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81000"/>
            <a:ext cx="7315200" cy="6019800"/>
          </a:xfrm>
          <a:prstGeom prst="roundRect">
            <a:avLst>
              <a:gd name="adj" fmla="val 16667"/>
            </a:avLst>
          </a:prstGeom>
          <a:solidFill>
            <a:srgbClr val="A2C1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Tx/>
              <a:buNone/>
            </a:pPr>
            <a:endParaRPr lang="en-US" altLang="en-US"/>
          </a:p>
        </p:txBody>
      </p:sp>
      <p:sp>
        <p:nvSpPr>
          <p:cNvPr id="512008" name="Rectangle 8">
            <a:extLst>
              <a:ext uri="{FF2B5EF4-FFF2-40B4-BE49-F238E27FC236}">
                <a16:creationId xmlns:a16="http://schemas.microsoft.com/office/drawing/2014/main" id="{45E48675-B79E-BD6F-4418-663B7B277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457201"/>
            <a:ext cx="17643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struct task_struct {</a:t>
            </a:r>
            <a:endParaRPr lang="en-US" altLang="en-US"/>
          </a:p>
        </p:txBody>
      </p:sp>
      <p:sp>
        <p:nvSpPr>
          <p:cNvPr id="512009" name="Rectangle 9">
            <a:extLst>
              <a:ext uri="{FF2B5EF4-FFF2-40B4-BE49-F238E27FC236}">
                <a16:creationId xmlns:a16="http://schemas.microsoft.com/office/drawing/2014/main" id="{555D5EA2-8904-C04A-B4C5-0EEB35655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688976"/>
            <a:ext cx="577222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volatile long state; /* -1 unrunnable, 0 runnable, &gt;0 stopped */</a:t>
            </a:r>
            <a:endParaRPr lang="en-US" altLang="en-US"/>
          </a:p>
        </p:txBody>
      </p:sp>
      <p:sp>
        <p:nvSpPr>
          <p:cNvPr id="512010" name="Rectangle 10">
            <a:extLst>
              <a:ext uri="{FF2B5EF4-FFF2-40B4-BE49-F238E27FC236}">
                <a16:creationId xmlns:a16="http://schemas.microsoft.com/office/drawing/2014/main" id="{B52AF6AE-A78E-4DF9-F2B4-6DA242217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922339"/>
            <a:ext cx="400519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unsigned long flags; /* per process flags */</a:t>
            </a:r>
            <a:endParaRPr lang="en-US" altLang="en-US"/>
          </a:p>
        </p:txBody>
      </p:sp>
      <p:sp>
        <p:nvSpPr>
          <p:cNvPr id="512011" name="Rectangle 11">
            <a:extLst>
              <a:ext uri="{FF2B5EF4-FFF2-40B4-BE49-F238E27FC236}">
                <a16:creationId xmlns:a16="http://schemas.microsoft.com/office/drawing/2014/main" id="{44607216-E995-DD2C-FB74-4782B6E1D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54114"/>
            <a:ext cx="491179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mm_segment_t addr_limit; /* thread address space:</a:t>
            </a:r>
            <a:endParaRPr lang="en-US" altLang="en-US"/>
          </a:p>
        </p:txBody>
      </p:sp>
      <p:sp>
        <p:nvSpPr>
          <p:cNvPr id="512012" name="Rectangle 12">
            <a:extLst>
              <a:ext uri="{FF2B5EF4-FFF2-40B4-BE49-F238E27FC236}">
                <a16:creationId xmlns:a16="http://schemas.microsoft.com/office/drawing/2014/main" id="{FD60936A-B15F-08F8-2C71-5AB572299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1385889"/>
            <a:ext cx="39049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                            0-0xBFFFFFFF for user-thead</a:t>
            </a:r>
            <a:endParaRPr lang="en-US" altLang="en-US"/>
          </a:p>
        </p:txBody>
      </p:sp>
      <p:sp>
        <p:nvSpPr>
          <p:cNvPr id="512013" name="Rectangle 13">
            <a:extLst>
              <a:ext uri="{FF2B5EF4-FFF2-40B4-BE49-F238E27FC236}">
                <a16:creationId xmlns:a16="http://schemas.microsoft.com/office/drawing/2014/main" id="{C68ADFF3-B44F-AE17-BAEE-8E23110FB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619251"/>
            <a:ext cx="43550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                            0-0xFFFFFFFF for kernel-thread */</a:t>
            </a:r>
            <a:endParaRPr lang="en-US" altLang="en-US"/>
          </a:p>
        </p:txBody>
      </p:sp>
      <p:sp>
        <p:nvSpPr>
          <p:cNvPr id="512014" name="Rectangle 14">
            <a:extLst>
              <a:ext uri="{FF2B5EF4-FFF2-40B4-BE49-F238E27FC236}">
                <a16:creationId xmlns:a16="http://schemas.microsoft.com/office/drawing/2014/main" id="{EBDF1DA2-DBC3-680E-6C33-A6BA404C8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1851026"/>
            <a:ext cx="334732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struct exec_domain *exec_domain;</a:t>
            </a:r>
            <a:endParaRPr lang="en-US" altLang="en-US"/>
          </a:p>
        </p:txBody>
      </p:sp>
      <p:sp>
        <p:nvSpPr>
          <p:cNvPr id="512015" name="Rectangle 15">
            <a:extLst>
              <a:ext uri="{FF2B5EF4-FFF2-40B4-BE49-F238E27FC236}">
                <a16:creationId xmlns:a16="http://schemas.microsoft.com/office/drawing/2014/main" id="{5FFC3A51-9F6D-0265-4AEF-11877013A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2084389"/>
            <a:ext cx="19052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long need_resched;</a:t>
            </a:r>
            <a:endParaRPr lang="en-US" altLang="en-US"/>
          </a:p>
        </p:txBody>
      </p:sp>
      <p:sp>
        <p:nvSpPr>
          <p:cNvPr id="512016" name="Rectangle 16">
            <a:extLst>
              <a:ext uri="{FF2B5EF4-FFF2-40B4-BE49-F238E27FC236}">
                <a16:creationId xmlns:a16="http://schemas.microsoft.com/office/drawing/2014/main" id="{997DEEBB-75BE-ED4F-9B3E-2DA0A0746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316164"/>
            <a:ext cx="13150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long counter;</a:t>
            </a:r>
            <a:endParaRPr lang="en-US" altLang="en-US"/>
          </a:p>
        </p:txBody>
      </p:sp>
      <p:sp>
        <p:nvSpPr>
          <p:cNvPr id="512017" name="Rectangle 17">
            <a:extLst>
              <a:ext uri="{FF2B5EF4-FFF2-40B4-BE49-F238E27FC236}">
                <a16:creationId xmlns:a16="http://schemas.microsoft.com/office/drawing/2014/main" id="{F0F180CF-5B9C-6A00-C916-AFB5585BC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547939"/>
            <a:ext cx="12583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long priority;</a:t>
            </a:r>
            <a:endParaRPr lang="en-US" altLang="en-US"/>
          </a:p>
        </p:txBody>
      </p:sp>
      <p:sp>
        <p:nvSpPr>
          <p:cNvPr id="512018" name="Rectangle 18">
            <a:extLst>
              <a:ext uri="{FF2B5EF4-FFF2-40B4-BE49-F238E27FC236}">
                <a16:creationId xmlns:a16="http://schemas.microsoft.com/office/drawing/2014/main" id="{43968F2A-1584-ED5C-57BA-1BF350BE1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781301"/>
            <a:ext cx="28717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SMP and runqueue state */</a:t>
            </a:r>
            <a:endParaRPr lang="en-US" altLang="en-US"/>
          </a:p>
        </p:txBody>
      </p:sp>
      <p:sp>
        <p:nvSpPr>
          <p:cNvPr id="512019" name="Rectangle 19">
            <a:extLst>
              <a:ext uri="{FF2B5EF4-FFF2-40B4-BE49-F238E27FC236}">
                <a16:creationId xmlns:a16="http://schemas.microsoft.com/office/drawing/2014/main" id="{927CD15F-EF01-EC38-673C-C3A652475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013076"/>
            <a:ext cx="406111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   struct task_struct *next_task, *prev_task;</a:t>
            </a:r>
            <a:endParaRPr lang="en-US" altLang="en-US"/>
          </a:p>
        </p:txBody>
      </p:sp>
      <p:sp>
        <p:nvSpPr>
          <p:cNvPr id="512020" name="Rectangle 20">
            <a:extLst>
              <a:ext uri="{FF2B5EF4-FFF2-40B4-BE49-F238E27FC236}">
                <a16:creationId xmlns:a16="http://schemas.microsoft.com/office/drawing/2014/main" id="{598EE221-2B7D-A846-6509-7D3063D02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3244851"/>
            <a:ext cx="39238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   struct task_struct *next_run,  *prev_run;</a:t>
            </a:r>
            <a:endParaRPr lang="en-US" altLang="en-US"/>
          </a:p>
        </p:txBody>
      </p:sp>
      <p:sp>
        <p:nvSpPr>
          <p:cNvPr id="512021" name="Rectangle 21">
            <a:extLst>
              <a:ext uri="{FF2B5EF4-FFF2-40B4-BE49-F238E27FC236}">
                <a16:creationId xmlns:a16="http://schemas.microsoft.com/office/drawing/2014/main" id="{4B2ADD71-30DA-BB59-863F-E91FA45BD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3478214"/>
            <a:ext cx="39113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   ...</a:t>
            </a:r>
            <a:endParaRPr lang="en-US" altLang="en-US"/>
          </a:p>
        </p:txBody>
      </p:sp>
      <p:sp>
        <p:nvSpPr>
          <p:cNvPr id="512022" name="Rectangle 22">
            <a:extLst>
              <a:ext uri="{FF2B5EF4-FFF2-40B4-BE49-F238E27FC236}">
                <a16:creationId xmlns:a16="http://schemas.microsoft.com/office/drawing/2014/main" id="{42128A77-FC0E-177B-EC90-CA8BA8542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3709989"/>
            <a:ext cx="14398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task state */</a:t>
            </a:r>
            <a:endParaRPr lang="en-US" altLang="en-US"/>
          </a:p>
        </p:txBody>
      </p:sp>
      <p:sp>
        <p:nvSpPr>
          <p:cNvPr id="512023" name="Rectangle 23">
            <a:extLst>
              <a:ext uri="{FF2B5EF4-FFF2-40B4-BE49-F238E27FC236}">
                <a16:creationId xmlns:a16="http://schemas.microsoft.com/office/drawing/2014/main" id="{6B4E2F4C-C0E0-4D0B-8CA2-B64E47E7D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941764"/>
            <a:ext cx="104804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limits */</a:t>
            </a:r>
            <a:endParaRPr lang="en-US" altLang="en-US"/>
          </a:p>
        </p:txBody>
      </p:sp>
      <p:sp>
        <p:nvSpPr>
          <p:cNvPr id="512024" name="Rectangle 24">
            <a:extLst>
              <a:ext uri="{FF2B5EF4-FFF2-40B4-BE49-F238E27FC236}">
                <a16:creationId xmlns:a16="http://schemas.microsoft.com/office/drawing/2014/main" id="{53D02BA3-38DD-8066-253A-00657562A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4175126"/>
            <a:ext cx="1984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file system info */</a:t>
            </a:r>
            <a:endParaRPr lang="en-US" altLang="en-US"/>
          </a:p>
        </p:txBody>
      </p:sp>
      <p:sp>
        <p:nvSpPr>
          <p:cNvPr id="512025" name="Rectangle 25">
            <a:extLst>
              <a:ext uri="{FF2B5EF4-FFF2-40B4-BE49-F238E27FC236}">
                <a16:creationId xmlns:a16="http://schemas.microsoft.com/office/drawing/2014/main" id="{F83FF3BF-1FBD-7586-44C5-12982088F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4406901"/>
            <a:ext cx="12938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ipc stuff */</a:t>
            </a:r>
            <a:endParaRPr lang="en-US" altLang="en-US"/>
          </a:p>
        </p:txBody>
      </p:sp>
      <p:sp>
        <p:nvSpPr>
          <p:cNvPr id="512026" name="Rectangle 26">
            <a:extLst>
              <a:ext uri="{FF2B5EF4-FFF2-40B4-BE49-F238E27FC236}">
                <a16:creationId xmlns:a16="http://schemas.microsoft.com/office/drawing/2014/main" id="{9E0A1F3E-4D36-205E-746D-D73D7535E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638676"/>
            <a:ext cx="2006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tss for this task */</a:t>
            </a:r>
            <a:endParaRPr lang="en-US" altLang="en-US"/>
          </a:p>
        </p:txBody>
      </p:sp>
      <p:sp>
        <p:nvSpPr>
          <p:cNvPr id="512027" name="Rectangle 27">
            <a:extLst>
              <a:ext uri="{FF2B5EF4-FFF2-40B4-BE49-F238E27FC236}">
                <a16:creationId xmlns:a16="http://schemas.microsoft.com/office/drawing/2014/main" id="{264A4E5F-14FE-8FB3-7143-408BE97E9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872039"/>
            <a:ext cx="26733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filesystem information */</a:t>
            </a:r>
            <a:endParaRPr lang="en-US" altLang="en-US"/>
          </a:p>
        </p:txBody>
      </p:sp>
      <p:sp>
        <p:nvSpPr>
          <p:cNvPr id="512028" name="Rectangle 28">
            <a:extLst>
              <a:ext uri="{FF2B5EF4-FFF2-40B4-BE49-F238E27FC236}">
                <a16:creationId xmlns:a16="http://schemas.microsoft.com/office/drawing/2014/main" id="{4E62E751-0947-77DD-E6D5-F963C75F8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103814"/>
            <a:ext cx="25146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open file information */</a:t>
            </a:r>
            <a:endParaRPr lang="en-US" altLang="en-US"/>
          </a:p>
        </p:txBody>
      </p:sp>
      <p:sp>
        <p:nvSpPr>
          <p:cNvPr id="512029" name="Rectangle 29">
            <a:extLst>
              <a:ext uri="{FF2B5EF4-FFF2-40B4-BE49-F238E27FC236}">
                <a16:creationId xmlns:a16="http://schemas.microsoft.com/office/drawing/2014/main" id="{D639F098-5A4E-1EA2-8660-53074EFF8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5337176"/>
            <a:ext cx="30321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memory management info */</a:t>
            </a:r>
            <a:endParaRPr lang="en-US" altLang="en-US"/>
          </a:p>
        </p:txBody>
      </p:sp>
      <p:sp>
        <p:nvSpPr>
          <p:cNvPr id="512030" name="Rectangle 30">
            <a:extLst>
              <a:ext uri="{FF2B5EF4-FFF2-40B4-BE49-F238E27FC236}">
                <a16:creationId xmlns:a16="http://schemas.microsoft.com/office/drawing/2014/main" id="{BA2D4F27-6C3B-0843-3DBA-A91029DE2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5568951"/>
            <a:ext cx="19923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/* signal handlers */</a:t>
            </a:r>
            <a:endParaRPr lang="en-US" altLang="en-US"/>
          </a:p>
        </p:txBody>
      </p:sp>
      <p:sp>
        <p:nvSpPr>
          <p:cNvPr id="512031" name="Rectangle 31">
            <a:extLst>
              <a:ext uri="{FF2B5EF4-FFF2-40B4-BE49-F238E27FC236}">
                <a16:creationId xmlns:a16="http://schemas.microsoft.com/office/drawing/2014/main" id="{DB6E0029-AB9F-1501-B332-704B9E616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1" y="5800726"/>
            <a:ext cx="39113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     ...</a:t>
            </a:r>
            <a:endParaRPr lang="en-US" altLang="en-US"/>
          </a:p>
        </p:txBody>
      </p:sp>
      <p:sp>
        <p:nvSpPr>
          <p:cNvPr id="512032" name="Rectangle 32">
            <a:extLst>
              <a:ext uri="{FF2B5EF4-FFF2-40B4-BE49-F238E27FC236}">
                <a16:creationId xmlns:a16="http://schemas.microsoft.com/office/drawing/2014/main" id="{3A30A296-5CD5-4F7F-082E-82CC38D91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6034089"/>
            <a:ext cx="12984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};</a:t>
            </a:r>
            <a:endParaRPr lang="en-US" altLang="en-US"/>
          </a:p>
        </p:txBody>
      </p:sp>
      <p:sp>
        <p:nvSpPr>
          <p:cNvPr id="512033" name="Text Box 33">
            <a:extLst>
              <a:ext uri="{FF2B5EF4-FFF2-40B4-BE49-F238E27FC236}">
                <a16:creationId xmlns:a16="http://schemas.microsoft.com/office/drawing/2014/main" id="{2962201F-55A1-3822-DF78-052BCC912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175126"/>
            <a:ext cx="3200400" cy="646331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altLang="en-US" b="1"/>
              <a:t>Contents of process descriptor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>
            <a:extLst>
              <a:ext uri="{FF2B5EF4-FFF2-40B4-BE49-F238E27FC236}">
                <a16:creationId xmlns:a16="http://schemas.microsoft.com/office/drawing/2014/main" id="{D78EEB03-ECC1-0BCF-B3E0-C673F0991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State</a:t>
            </a:r>
          </a:p>
        </p:txBody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5AA4FE74-AB8C-E297-6A21-6ED55ECCF5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/>
              <a:t>Consists of an array of mutually exclusive flags*</a:t>
            </a:r>
          </a:p>
          <a:p>
            <a:pPr lvl="1"/>
            <a:r>
              <a:rPr lang="en-US" altLang="en-US" sz="2000"/>
              <a:t>*at least true for 2.2.x kernels.</a:t>
            </a:r>
          </a:p>
          <a:p>
            <a:pPr lvl="1"/>
            <a:r>
              <a:rPr lang="en-US" altLang="en-US" sz="2000"/>
              <a:t>*implies exactly one </a:t>
            </a:r>
            <a:r>
              <a:rPr lang="en-US" altLang="en-US" sz="2000" b="1">
                <a:latin typeface="Courier New" panose="02070309020205020404" pitchFamily="49" charset="0"/>
              </a:rPr>
              <a:t>state</a:t>
            </a:r>
            <a:r>
              <a:rPr lang="en-US" altLang="en-US" sz="2000"/>
              <a:t> flag is set at any time.</a:t>
            </a:r>
          </a:p>
          <a:p>
            <a:r>
              <a:rPr lang="en-US" altLang="en-US" sz="2000" b="1">
                <a:latin typeface="Courier New" panose="02070309020205020404" pitchFamily="49" charset="0"/>
              </a:rPr>
              <a:t>state</a:t>
            </a:r>
            <a:r>
              <a:rPr lang="en-US" altLang="en-US" sz="2000"/>
              <a:t> values: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TASK_RUNNING</a:t>
            </a:r>
            <a:r>
              <a:rPr lang="en-US" altLang="en-US" sz="2000"/>
              <a:t> (executing on CPU or runnable).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TASK_INTERRUPTIBLE</a:t>
            </a:r>
            <a:r>
              <a:rPr lang="en-US" altLang="en-US" sz="2000"/>
              <a:t> (waiting on a condition: interrupts, signals and releasing resources may “wake” process).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TASK_UNINTERRUPTIBLE</a:t>
            </a:r>
            <a:r>
              <a:rPr lang="en-US" altLang="en-US" sz="2000"/>
              <a:t> (Sleeping process cannot be woken by a signal).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TASK_STOPPED</a:t>
            </a:r>
            <a:r>
              <a:rPr lang="en-US" altLang="en-US" sz="2000"/>
              <a:t> (stopped process e.g., by a debugger).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TASK_ZOMBIE</a:t>
            </a:r>
            <a:r>
              <a:rPr lang="en-US" altLang="en-US" sz="2000"/>
              <a:t> (terminated before waiting for parent).</a:t>
            </a:r>
          </a:p>
          <a:p>
            <a:pPr lvl="1"/>
            <a:endParaRPr lang="en-US" altLang="en-US" sz="2000"/>
          </a:p>
          <a:p>
            <a:pPr lvl="2"/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>
            <a:extLst>
              <a:ext uri="{FF2B5EF4-FFF2-40B4-BE49-F238E27FC236}">
                <a16:creationId xmlns:a16="http://schemas.microsoft.com/office/drawing/2014/main" id="{90FC07E8-1115-9806-AFD2-344987E12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Process Identification</a:t>
            </a:r>
          </a:p>
        </p:txBody>
      </p:sp>
      <p:sp>
        <p:nvSpPr>
          <p:cNvPr id="515075" name="Rectangle 3">
            <a:extLst>
              <a:ext uri="{FF2B5EF4-FFF2-40B4-BE49-F238E27FC236}">
                <a16:creationId xmlns:a16="http://schemas.microsoft.com/office/drawing/2014/main" id="{5B55F891-47C5-34DF-69D7-092B5F60B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sz="2600" dirty="0"/>
              <a:t>Each process, or independently scheduled execution context, has its own process descriptor.</a:t>
            </a:r>
          </a:p>
          <a:p>
            <a:r>
              <a:rPr lang="en-US" altLang="en-US" sz="2600" dirty="0"/>
              <a:t>Process descriptor addresses are used to identify processes.</a:t>
            </a:r>
          </a:p>
          <a:p>
            <a:pPr lvl="1"/>
            <a:r>
              <a:rPr lang="en-US" altLang="en-US" sz="2600" dirty="0"/>
              <a:t>Process ids (or </a:t>
            </a:r>
            <a:r>
              <a:rPr lang="en-US" altLang="en-US" sz="2600" b="1" dirty="0"/>
              <a:t>PID</a:t>
            </a:r>
            <a:r>
              <a:rPr lang="en-US" altLang="en-US" sz="2600" dirty="0"/>
              <a:t>s) are 32-bit numbers, also used to identify processes. </a:t>
            </a:r>
          </a:p>
          <a:p>
            <a:pPr lvl="1"/>
            <a:r>
              <a:rPr lang="en-US" altLang="en-US" sz="2600" dirty="0"/>
              <a:t>For compatibility with traditional UNIX systems, LINUX uses PIDs in range 0..32767.</a:t>
            </a:r>
          </a:p>
          <a:p>
            <a:r>
              <a:rPr lang="en-US" altLang="en-US" sz="2600" dirty="0"/>
              <a:t>Kernel maintains a </a:t>
            </a:r>
            <a:r>
              <a:rPr lang="en-US" altLang="en-US" sz="2600" b="1" dirty="0">
                <a:latin typeface="Courier New" panose="02070309020205020404" pitchFamily="49" charset="0"/>
              </a:rPr>
              <a:t>task</a:t>
            </a:r>
            <a:r>
              <a:rPr lang="en-US" altLang="en-US" sz="2600" dirty="0"/>
              <a:t> array of size </a:t>
            </a:r>
            <a:r>
              <a:rPr lang="en-US" altLang="en-US" sz="2600" b="1" dirty="0">
                <a:latin typeface="Courier New" panose="02070309020205020404" pitchFamily="49" charset="0"/>
              </a:rPr>
              <a:t>NR_TASKS</a:t>
            </a:r>
            <a:r>
              <a:rPr lang="en-US" altLang="en-US" sz="2600" dirty="0"/>
              <a:t>, with pointers to process descriptors. (Removed in 2.4.x to increase limit on number of processes in system).</a:t>
            </a:r>
          </a:p>
          <a:p>
            <a:endParaRPr lang="en-US" alt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6B54D0A-ECB3-8BFF-6B4F-055945842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Several dozen fields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B1D68C-AB3D-B353-5321-7181290E1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Dozens of separate items of information are kept in a Linux ‘task_struct’; e.g.: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pid;		// process ID-number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state;		// current task-state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priority;	// current task-priority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start_time;	// time when task was created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sleep_time;	// time when task began sleeping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   . . .		// … many more items …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This info is used by the Linux ‘scheduler’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6D8D301-C9E6-D709-FDF1-2027233D1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state-transition diagram</a:t>
            </a:r>
          </a:p>
        </p:txBody>
      </p:sp>
      <p:sp>
        <p:nvSpPr>
          <p:cNvPr id="9220" name="Oval 4">
            <a:extLst>
              <a:ext uri="{FF2B5EF4-FFF2-40B4-BE49-F238E27FC236}">
                <a16:creationId xmlns:a16="http://schemas.microsoft.com/office/drawing/2014/main" id="{E5BC0FC5-215B-EFA6-D9A4-73A39B6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09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1" name="Oval 5">
            <a:extLst>
              <a:ext uri="{FF2B5EF4-FFF2-40B4-BE49-F238E27FC236}">
                <a16:creationId xmlns:a16="http://schemas.microsoft.com/office/drawing/2014/main" id="{F9A56944-9269-91C8-0279-3DAE9A4D1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286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Oval 6">
            <a:extLst>
              <a:ext uri="{FF2B5EF4-FFF2-40B4-BE49-F238E27FC236}">
                <a16:creationId xmlns:a16="http://schemas.microsoft.com/office/drawing/2014/main" id="{8B8D3378-F4B8-CC04-DC95-3324BC033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114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Oval 7">
            <a:extLst>
              <a:ext uri="{FF2B5EF4-FFF2-40B4-BE49-F238E27FC236}">
                <a16:creationId xmlns:a16="http://schemas.microsoft.com/office/drawing/2014/main" id="{D0E9BB7B-D844-503D-4763-9161E8678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91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/>
              <a:t>CPU</a:t>
            </a:r>
          </a:p>
        </p:txBody>
      </p:sp>
      <p:sp>
        <p:nvSpPr>
          <p:cNvPr id="9224" name="Oval 8">
            <a:extLst>
              <a:ext uri="{FF2B5EF4-FFF2-40B4-BE49-F238E27FC236}">
                <a16:creationId xmlns:a16="http://schemas.microsoft.com/office/drawing/2014/main" id="{1917A974-8B80-F087-8026-EB39516D1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2672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Line 9">
            <a:extLst>
              <a:ext uri="{FF2B5EF4-FFF2-40B4-BE49-F238E27FC236}">
                <a16:creationId xmlns:a16="http://schemas.microsoft.com/office/drawing/2014/main" id="{662FE36E-9B4C-58B0-573F-FF36F72A7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667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3096DEE0-DC37-C9C5-1677-0B30C21F5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6" y="2297114"/>
            <a:ext cx="931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create</a:t>
            </a:r>
          </a:p>
        </p:txBody>
      </p:sp>
      <p:sp>
        <p:nvSpPr>
          <p:cNvPr id="9227" name="Text Box 11">
            <a:extLst>
              <a:ext uri="{FF2B5EF4-FFF2-40B4-BE49-F238E27FC236}">
                <a16:creationId xmlns:a16="http://schemas.microsoft.com/office/drawing/2014/main" id="{5D7F62FB-BC51-5647-1054-4B06A0ECE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905000"/>
            <a:ext cx="11945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RUNNING</a:t>
            </a:r>
          </a:p>
        </p:txBody>
      </p:sp>
      <p:sp>
        <p:nvSpPr>
          <p:cNvPr id="9228" name="Line 12">
            <a:extLst>
              <a:ext uri="{FF2B5EF4-FFF2-40B4-BE49-F238E27FC236}">
                <a16:creationId xmlns:a16="http://schemas.microsoft.com/office/drawing/2014/main" id="{40CF63A1-FB48-717F-1BDD-E7E992FD8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819400"/>
            <a:ext cx="21336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Line 13">
            <a:extLst>
              <a:ext uri="{FF2B5EF4-FFF2-40B4-BE49-F238E27FC236}">
                <a16:creationId xmlns:a16="http://schemas.microsoft.com/office/drawing/2014/main" id="{A69F35B2-428B-2477-2D9B-ED91D1A029A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2971800"/>
            <a:ext cx="21336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Text Box 15">
            <a:extLst>
              <a:ext uri="{FF2B5EF4-FFF2-40B4-BE49-F238E27FC236}">
                <a16:creationId xmlns:a16="http://schemas.microsoft.com/office/drawing/2014/main" id="{1268A722-1DC4-3209-1E20-05A3C991D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211514"/>
            <a:ext cx="1285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schedule</a:t>
            </a:r>
          </a:p>
        </p:txBody>
      </p:sp>
      <p:sp>
        <p:nvSpPr>
          <p:cNvPr id="9232" name="Text Box 16">
            <a:extLst>
              <a:ext uri="{FF2B5EF4-FFF2-40B4-BE49-F238E27FC236}">
                <a16:creationId xmlns:a16="http://schemas.microsoft.com/office/drawing/2014/main" id="{7D58AFC0-1786-F880-1D5F-9191E996D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676401"/>
            <a:ext cx="20851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UNINTERRUPTIBLE</a:t>
            </a:r>
          </a:p>
          <a:p>
            <a:r>
              <a:rPr lang="en-US" altLang="en-US"/>
              <a:t>   INTERRUPTIBLE</a:t>
            </a:r>
          </a:p>
        </p:txBody>
      </p:sp>
      <p:sp>
        <p:nvSpPr>
          <p:cNvPr id="9233" name="Line 17">
            <a:extLst>
              <a:ext uri="{FF2B5EF4-FFF2-40B4-BE49-F238E27FC236}">
                <a16:creationId xmlns:a16="http://schemas.microsoft.com/office/drawing/2014/main" id="{66C31C6C-236E-8966-447F-284119BDAD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32004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4" name="Text Box 18">
            <a:extLst>
              <a:ext uri="{FF2B5EF4-FFF2-40B4-BE49-F238E27FC236}">
                <a16:creationId xmlns:a16="http://schemas.microsoft.com/office/drawing/2014/main" id="{75130E4F-9195-6D26-F2B4-D920F7753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726" y="3440114"/>
            <a:ext cx="676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wait</a:t>
            </a:r>
          </a:p>
        </p:txBody>
      </p:sp>
      <p:sp>
        <p:nvSpPr>
          <p:cNvPr id="9235" name="Text Box 19">
            <a:extLst>
              <a:ext uri="{FF2B5EF4-FFF2-40B4-BE49-F238E27FC236}">
                <a16:creationId xmlns:a16="http://schemas.microsoft.com/office/drawing/2014/main" id="{06EA1383-8E4F-B0C2-E43D-F49A16144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5257800"/>
            <a:ext cx="978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ZOMBIE</a:t>
            </a:r>
          </a:p>
        </p:txBody>
      </p:sp>
      <p:sp>
        <p:nvSpPr>
          <p:cNvPr id="9236" name="Line 20">
            <a:extLst>
              <a:ext uri="{FF2B5EF4-FFF2-40B4-BE49-F238E27FC236}">
                <a16:creationId xmlns:a16="http://schemas.microsoft.com/office/drawing/2014/main" id="{6B823384-BA42-3A6A-4335-02026659B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648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F720C34B-9CCF-5492-5DE5-0A769E458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572001"/>
            <a:ext cx="1212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terminate</a:t>
            </a:r>
          </a:p>
        </p:txBody>
      </p:sp>
      <p:sp>
        <p:nvSpPr>
          <p:cNvPr id="9238" name="Text Box 22">
            <a:extLst>
              <a:ext uri="{FF2B5EF4-FFF2-40B4-BE49-F238E27FC236}">
                <a16:creationId xmlns:a16="http://schemas.microsoft.com/office/drawing/2014/main" id="{FEB02956-7459-B038-19FE-150565864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3810001"/>
            <a:ext cx="1185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preempt</a:t>
            </a:r>
          </a:p>
        </p:txBody>
      </p:sp>
      <p:sp>
        <p:nvSpPr>
          <p:cNvPr id="9239" name="Line 23">
            <a:extLst>
              <a:ext uri="{FF2B5EF4-FFF2-40B4-BE49-F238E27FC236}">
                <a16:creationId xmlns:a16="http://schemas.microsoft.com/office/drawing/2014/main" id="{4B766345-6C2B-1D66-1225-999F528722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667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0" name="Text Box 24">
            <a:extLst>
              <a:ext uri="{FF2B5EF4-FFF2-40B4-BE49-F238E27FC236}">
                <a16:creationId xmlns:a16="http://schemas.microsoft.com/office/drawing/2014/main" id="{CF7F8C13-A0CE-797E-63A9-DFA8E7BB8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2286001"/>
            <a:ext cx="847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 i="1"/>
              <a:t>event</a:t>
            </a:r>
          </a:p>
        </p:txBody>
      </p:sp>
      <p:sp>
        <p:nvSpPr>
          <p:cNvPr id="9241" name="Text Box 25">
            <a:extLst>
              <a:ext uri="{FF2B5EF4-FFF2-40B4-BE49-F238E27FC236}">
                <a16:creationId xmlns:a16="http://schemas.microsoft.com/office/drawing/2014/main" id="{2FF6A1CB-96A0-5A70-BCCE-D49C1AAA5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5065713"/>
            <a:ext cx="11357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STOPPED</a:t>
            </a:r>
          </a:p>
        </p:txBody>
      </p:sp>
      <p:sp>
        <p:nvSpPr>
          <p:cNvPr id="9242" name="Line 26">
            <a:extLst>
              <a:ext uri="{FF2B5EF4-FFF2-40B4-BE49-F238E27FC236}">
                <a16:creationId xmlns:a16="http://schemas.microsoft.com/office/drawing/2014/main" id="{848D5B70-9AAA-6A09-7D8F-0E4E00A534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4648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3" name="Line 27">
            <a:extLst>
              <a:ext uri="{FF2B5EF4-FFF2-40B4-BE49-F238E27FC236}">
                <a16:creationId xmlns:a16="http://schemas.microsoft.com/office/drawing/2014/main" id="{CD09A85B-D606-45D0-9E41-0F6A6F8443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124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4" name="Text Box 28">
            <a:extLst>
              <a:ext uri="{FF2B5EF4-FFF2-40B4-BE49-F238E27FC236}">
                <a16:creationId xmlns:a16="http://schemas.microsoft.com/office/drawing/2014/main" id="{1A1C8C5C-3569-BBFC-78DB-E43BB7FFB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1" y="4572001"/>
            <a:ext cx="917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signal</a:t>
            </a:r>
          </a:p>
        </p:txBody>
      </p:sp>
      <p:sp>
        <p:nvSpPr>
          <p:cNvPr id="9245" name="Text Box 29">
            <a:extLst>
              <a:ext uri="{FF2B5EF4-FFF2-40B4-BE49-F238E27FC236}">
                <a16:creationId xmlns:a16="http://schemas.microsoft.com/office/drawing/2014/main" id="{15652CBE-66CC-3A55-1B78-B19271175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1" y="3505201"/>
            <a:ext cx="917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/>
              <a:t>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9F5C6BB-A2FA-B4DA-D131-262CE2FF0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process needs ‘resources’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5CD3767-EEAD-4ED7-1B24-85ED23568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Each task may acquire ownership of some system resources while it is executing</a:t>
            </a:r>
          </a:p>
          <a:p>
            <a:pPr>
              <a:lnSpc>
                <a:spcPct val="90000"/>
              </a:lnSpc>
            </a:pPr>
            <a:r>
              <a:rPr lang="en-US" altLang="en-US"/>
              <a:t>For example, a task needs to use some system memory (code, data, heap, stack)</a:t>
            </a:r>
          </a:p>
          <a:p>
            <a:pPr>
              <a:lnSpc>
                <a:spcPct val="90000"/>
              </a:lnSpc>
            </a:pPr>
            <a:r>
              <a:rPr lang="en-US" altLang="en-US"/>
              <a:t>And a task typically needs to read or write to some disk-files or to peripheral devices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Usually a task will want to call subroutines which belong to a shared runtime library</a:t>
            </a:r>
          </a:p>
          <a:p>
            <a:pPr>
              <a:lnSpc>
                <a:spcPct val="90000"/>
              </a:lnSpc>
            </a:pPr>
            <a:r>
              <a:rPr lang="en-US" altLang="en-US"/>
              <a:t>Every task needs to use some CPU time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B727F3D-06E5-296A-3F1D-6E30B5BE6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OS is a ‘resource manager’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FACD93E-CB25-2223-1562-B84DC33B5D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Sometimes a task is temporarily granted ‘exclusive’ access to a system resource (e.g., each task has its own private stack)</a:t>
            </a:r>
          </a:p>
          <a:p>
            <a:r>
              <a:rPr lang="en-US" altLang="en-US"/>
              <a:t>But often a task will be allowed to ‘share’ access to a system resource (e.g., many processes call the same runtime libraries)</a:t>
            </a:r>
          </a:p>
          <a:p>
            <a:r>
              <a:rPr lang="en-US" altLang="en-US"/>
              <a:t>Acquisition of resources by a task is kept track of within the task’s ‘task_struct’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26F55EB-CD6C-75AB-27C6-5CEC394AF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Examples: memory and files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5CABA29-3266-5896-11C3-691E9A869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‘task_struct’ record has fields (named ‘mm’ and ‘files’) which hold pointers to OS structures (‘mm_struct’ and ‘files_struct’) that describe the particular memory-areas and files which the task currently ‘owns’</a:t>
            </a:r>
          </a:p>
          <a:p>
            <a:endParaRPr lang="en-US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357FB82-FFC7-29BC-1C5F-63F317959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72000"/>
            <a:ext cx="1524000" cy="14478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32DEBF29-B544-E2A1-2D8E-8BEDC843E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Text Box 6">
            <a:extLst>
              <a:ext uri="{FF2B5EF4-FFF2-40B4-BE49-F238E27FC236}">
                <a16:creationId xmlns:a16="http://schemas.microsoft.com/office/drawing/2014/main" id="{4C347D89-E536-BC7B-4FB5-0AEA088F7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91001"/>
            <a:ext cx="1587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 </a:t>
            </a:r>
            <a:r>
              <a:rPr lang="en-US" altLang="en-US" sz="2000" b="1"/>
              <a:t>task_struc</a:t>
            </a:r>
            <a:r>
              <a:rPr lang="en-US" altLang="en-US" sz="2000"/>
              <a:t>t</a:t>
            </a:r>
          </a:p>
        </p:txBody>
      </p:sp>
      <p:sp>
        <p:nvSpPr>
          <p:cNvPr id="13319" name="Line 7">
            <a:extLst>
              <a:ext uri="{FF2B5EF4-FFF2-40B4-BE49-F238E27FC236}">
                <a16:creationId xmlns:a16="http://schemas.microsoft.com/office/drawing/2014/main" id="{A3EC1366-6FDD-6984-B719-863F6F435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800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0708B484-F422-C3A3-D6EA-D49B9AF958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4953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1FE27B4E-5CB0-D563-265B-8C4541972B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4953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BDAC2D5C-06C6-85BE-B55C-EBC86DDB0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181600"/>
            <a:ext cx="1219200" cy="304800"/>
          </a:xfrm>
          <a:prstGeom prst="rect">
            <a:avLst/>
          </a:prstGeom>
          <a:solidFill>
            <a:srgbClr val="F4FDA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/>
              <a:t> mm</a:t>
            </a:r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93ED0B97-7F23-286C-F2D8-7116B004E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572000"/>
            <a:ext cx="1447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5" name="Text Box 13">
            <a:extLst>
              <a:ext uri="{FF2B5EF4-FFF2-40B4-BE49-F238E27FC236}">
                <a16:creationId xmlns:a16="http://schemas.microsoft.com/office/drawing/2014/main" id="{00D850CE-D066-CF47-F560-E0C7A5926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191001"/>
            <a:ext cx="1416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 mm_struct</a:t>
            </a:r>
          </a:p>
        </p:txBody>
      </p:sp>
      <p:sp>
        <p:nvSpPr>
          <p:cNvPr id="13326" name="Line 14">
            <a:extLst>
              <a:ext uri="{FF2B5EF4-FFF2-40B4-BE49-F238E27FC236}">
                <a16:creationId xmlns:a16="http://schemas.microsoft.com/office/drawing/2014/main" id="{3A96A53C-443F-654D-AAF4-AB25F82BFF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4876800"/>
            <a:ext cx="3886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Rectangle 15">
            <a:extLst>
              <a:ext uri="{FF2B5EF4-FFF2-40B4-BE49-F238E27FC236}">
                <a16:creationId xmlns:a16="http://schemas.microsoft.com/office/drawing/2014/main" id="{0CD3B0BC-E056-2AA5-A605-B62585ADE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638800"/>
            <a:ext cx="1219200" cy="304800"/>
          </a:xfrm>
          <a:prstGeom prst="rect">
            <a:avLst/>
          </a:prstGeom>
          <a:solidFill>
            <a:srgbClr val="F4FDA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/>
              <a:t>  files</a:t>
            </a:r>
          </a:p>
        </p:txBody>
      </p:sp>
      <p:sp>
        <p:nvSpPr>
          <p:cNvPr id="13328" name="Rectangle 16">
            <a:extLst>
              <a:ext uri="{FF2B5EF4-FFF2-40B4-BE49-F238E27FC236}">
                <a16:creationId xmlns:a16="http://schemas.microsoft.com/office/drawing/2014/main" id="{41659244-333C-B403-D4B8-5C63F1F28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867400"/>
            <a:ext cx="3276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0" name="Text Box 18">
            <a:extLst>
              <a:ext uri="{FF2B5EF4-FFF2-40B4-BE49-F238E27FC236}">
                <a16:creationId xmlns:a16="http://schemas.microsoft.com/office/drawing/2014/main" id="{46DA978B-08EA-600B-C1ED-FA840FEF9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5" y="5522913"/>
            <a:ext cx="1466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 files_struct</a:t>
            </a:r>
          </a:p>
        </p:txBody>
      </p:sp>
      <p:sp>
        <p:nvSpPr>
          <p:cNvPr id="13331" name="Line 19">
            <a:extLst>
              <a:ext uri="{FF2B5EF4-FFF2-40B4-BE49-F238E27FC236}">
                <a16:creationId xmlns:a16="http://schemas.microsoft.com/office/drawing/2014/main" id="{8E778881-97D4-0EFA-FE9D-34E200471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791200"/>
            <a:ext cx="1981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2" name="Rectangle 20">
            <a:extLst>
              <a:ext uri="{FF2B5EF4-FFF2-40B4-BE49-F238E27FC236}">
                <a16:creationId xmlns:a16="http://schemas.microsoft.com/office/drawing/2014/main" id="{A2A10FEB-99E3-4D26-6090-94E0893D6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3" name="Rectangle 21">
            <a:extLst>
              <a:ext uri="{FF2B5EF4-FFF2-40B4-BE49-F238E27FC236}">
                <a16:creationId xmlns:a16="http://schemas.microsoft.com/office/drawing/2014/main" id="{D145B040-73EB-36D6-D332-1FAF77B21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4" name="Rectangle 22">
            <a:extLst>
              <a:ext uri="{FF2B5EF4-FFF2-40B4-BE49-F238E27FC236}">
                <a16:creationId xmlns:a16="http://schemas.microsoft.com/office/drawing/2014/main" id="{B458171C-AA1B-C8BC-B963-5C9836CDD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5" name="Rectangle 23">
            <a:extLst>
              <a:ext uri="{FF2B5EF4-FFF2-40B4-BE49-F238E27FC236}">
                <a16:creationId xmlns:a16="http://schemas.microsoft.com/office/drawing/2014/main" id="{8FB5E7E5-4AC2-89A9-A515-9A96A758C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6" name="Rectangle 24">
            <a:extLst>
              <a:ext uri="{FF2B5EF4-FFF2-40B4-BE49-F238E27FC236}">
                <a16:creationId xmlns:a16="http://schemas.microsoft.com/office/drawing/2014/main" id="{D16ECA05-0C54-2611-C830-F1C5049AE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7" name="Rectangle 25">
            <a:extLst>
              <a:ext uri="{FF2B5EF4-FFF2-40B4-BE49-F238E27FC236}">
                <a16:creationId xmlns:a16="http://schemas.microsoft.com/office/drawing/2014/main" id="{6758B229-1A10-C269-5101-26041772C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8" name="Rectangle 26">
            <a:extLst>
              <a:ext uri="{FF2B5EF4-FFF2-40B4-BE49-F238E27FC236}">
                <a16:creationId xmlns:a16="http://schemas.microsoft.com/office/drawing/2014/main" id="{5DD81388-F4AC-5400-A713-7456150B3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39" name="Rectangle 27">
            <a:extLst>
              <a:ext uri="{FF2B5EF4-FFF2-40B4-BE49-F238E27FC236}">
                <a16:creationId xmlns:a16="http://schemas.microsoft.com/office/drawing/2014/main" id="{EF839F1F-0122-07FA-AD26-639B13ADF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40" name="Rectangle 28">
            <a:extLst>
              <a:ext uri="{FF2B5EF4-FFF2-40B4-BE49-F238E27FC236}">
                <a16:creationId xmlns:a16="http://schemas.microsoft.com/office/drawing/2014/main" id="{C1F57A32-899C-6EEC-5645-2D70D4BD6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41" name="Rectangle 29">
            <a:extLst>
              <a:ext uri="{FF2B5EF4-FFF2-40B4-BE49-F238E27FC236}">
                <a16:creationId xmlns:a16="http://schemas.microsoft.com/office/drawing/2014/main" id="{C749FFDF-73A1-B5D1-0C10-FA0A535B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42" name="Rectangle 30">
            <a:extLst>
              <a:ext uri="{FF2B5EF4-FFF2-40B4-BE49-F238E27FC236}">
                <a16:creationId xmlns:a16="http://schemas.microsoft.com/office/drawing/2014/main" id="{25AA7980-3729-77A3-164C-8C68D6E4A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43" name="Rectangle 31">
            <a:extLst>
              <a:ext uri="{FF2B5EF4-FFF2-40B4-BE49-F238E27FC236}">
                <a16:creationId xmlns:a16="http://schemas.microsoft.com/office/drawing/2014/main" id="{09D02184-A75B-CE1E-0937-04BFC8D19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5867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3344" name="Rectangle 32">
            <a:extLst>
              <a:ext uri="{FF2B5EF4-FFF2-40B4-BE49-F238E27FC236}">
                <a16:creationId xmlns:a16="http://schemas.microsoft.com/office/drawing/2014/main" id="{25B53815-CF82-1F3D-ED00-3885836D8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572000"/>
            <a:ext cx="1447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5" name="Rectangle 33">
            <a:extLst>
              <a:ext uri="{FF2B5EF4-FFF2-40B4-BE49-F238E27FC236}">
                <a16:creationId xmlns:a16="http://schemas.microsoft.com/office/drawing/2014/main" id="{2A56976E-B6B9-CBC1-9896-4D83A6A01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572000"/>
            <a:ext cx="1447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6" name="Rectangle 34">
            <a:extLst>
              <a:ext uri="{FF2B5EF4-FFF2-40B4-BE49-F238E27FC236}">
                <a16:creationId xmlns:a16="http://schemas.microsoft.com/office/drawing/2014/main" id="{C571DD75-32D7-1226-69DD-B14459446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724400"/>
            <a:ext cx="1447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7" name="Rectangle 35">
            <a:extLst>
              <a:ext uri="{FF2B5EF4-FFF2-40B4-BE49-F238E27FC236}">
                <a16:creationId xmlns:a16="http://schemas.microsoft.com/office/drawing/2014/main" id="{42289321-AEA1-4375-A817-53B5645E8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876800"/>
            <a:ext cx="1447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8" name="Rectangle 36">
            <a:extLst>
              <a:ext uri="{FF2B5EF4-FFF2-40B4-BE49-F238E27FC236}">
                <a16:creationId xmlns:a16="http://schemas.microsoft.com/office/drawing/2014/main" id="{AF59B853-AF75-742B-9F91-ECB22B015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029200"/>
            <a:ext cx="1447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49" name="Rectangle 37">
            <a:extLst>
              <a:ext uri="{FF2B5EF4-FFF2-40B4-BE49-F238E27FC236}">
                <a16:creationId xmlns:a16="http://schemas.microsoft.com/office/drawing/2014/main" id="{712CDA42-571A-45EE-5D45-F9CD8886A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5181600"/>
            <a:ext cx="14478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D736908-D99F-AC33-C841-93D86776D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49" y="190100"/>
            <a:ext cx="8018762" cy="129613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Backgrounrd &amp; Foreground Processes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D8DA03C-1130-6B16-E71B-027C519BE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4342" cy="3963296"/>
          </a:xfrm>
        </p:spPr>
        <p:txBody>
          <a:bodyPr/>
          <a:lstStyle/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A foreground process is any process which is not continuously running and it waiting on something like user input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A background process is something that is continually running and does not require any additional input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Can someone name examples of each?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BC58392E-2324-C818-C58B-A4614560E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49" y="273629"/>
            <a:ext cx="8018762" cy="1130519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Moving a Process to the Background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72A6FB5-FAA8-FC5B-546F-F4C616EBEE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4342" cy="3963296"/>
          </a:xfrm>
        </p:spPr>
        <p:txBody>
          <a:bodyPr/>
          <a:lstStyle/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When executing commands on the command line, there is usually some output that is displayed on the terminal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If you move a process to the background, the output will not be shown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06D56AC3-23AD-7D81-8A01-CF4A2D87A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49" y="273629"/>
            <a:ext cx="8018762" cy="1130519"/>
          </a:xfrm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Background Process Example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1F5DF97-D900-259A-DF5D-F1B4892E1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4342" cy="4095790"/>
          </a:xfrm>
        </p:spPr>
        <p:txBody>
          <a:bodyPr/>
          <a:lstStyle/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 dirty="0"/>
              <a:t>Usually, when you download a file from the command line, the status is displayed on the terminal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 dirty="0"/>
              <a:t>To move a process to the background all you have to do is add an ampersand (&amp;) at the end of the command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 sz="1452" b="1" dirty="0" err="1"/>
              <a:t>wget</a:t>
            </a:r>
            <a:r>
              <a:rPr lang="en-US" altLang="en-US" sz="1452" b="1" dirty="0"/>
              <a:t> &lt;URL&gt; &amp;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 dirty="0"/>
              <a:t>Now this will be moved to the background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endParaRPr lang="en-US" altLang="en-US" b="1" dirty="0"/>
          </a:p>
        </p:txBody>
      </p:sp>
      <p:pic>
        <p:nvPicPr>
          <p:cNvPr id="12292" name="Picture 5" descr="https://ssl.gstatic.com/ui/v1/icons/mail/images/cleardot.gif">
            <a:extLst>
              <a:ext uri="{FF2B5EF4-FFF2-40B4-BE49-F238E27FC236}">
                <a16:creationId xmlns:a16="http://schemas.microsoft.com/office/drawing/2014/main" id="{504F5443-BB4E-239F-C234-635EEDC0D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656" y="108013"/>
            <a:ext cx="8641" cy="8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8AFDB064-6587-3F4E-B7AE-2949839B7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49" y="273629"/>
            <a:ext cx="8018762" cy="1130519"/>
          </a:xfrm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Moving back to the Foreground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14190BE-89B8-8561-6628-FFECA8491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4342" cy="3963296"/>
          </a:xfrm>
        </p:spPr>
        <p:txBody>
          <a:bodyPr/>
          <a:lstStyle/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To move a process back to the foreground, use the following steps: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Use the </a:t>
            </a:r>
            <a:r>
              <a:rPr lang="en-US" altLang="en-US" b="1"/>
              <a:t>jobs</a:t>
            </a:r>
            <a:r>
              <a:rPr lang="en-US" altLang="en-US"/>
              <a:t> command to identify the job number of the background process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Then use the </a:t>
            </a:r>
            <a:r>
              <a:rPr lang="en-US" altLang="en-US" b="1"/>
              <a:t>fg</a:t>
            </a:r>
            <a:r>
              <a:rPr lang="en-US" altLang="en-US"/>
              <a:t> command to bring it back with the following syntax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 b="1"/>
              <a:t>fg [job number]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885DF90D-40B5-0FD2-EC91-BB80547DF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49" y="273629"/>
            <a:ext cx="8018762" cy="1130519"/>
          </a:xfrm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How do Processes Actually Work?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93BEA17-624D-A305-1E6F-034AC2E27F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4342" cy="3963296"/>
          </a:xfrm>
        </p:spPr>
        <p:txBody>
          <a:bodyPr/>
          <a:lstStyle/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In the Unix operating environment, processes are created by a method called “forking”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Forking is when the OS duplicated a process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The original process is called the parent process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r>
              <a:rPr lang="en-US" altLang="en-US"/>
              <a:t>And the new process is the child process</a:t>
            </a:r>
          </a:p>
          <a:p>
            <a:pPr marL="505504" indent="-505504">
              <a:buSzPct val="45000"/>
              <a:buFont typeface="Wingdings" pitchFamily="2" charset="2"/>
              <a:buChar char=""/>
              <a:tabLst>
                <a:tab pos="505504" algn="l"/>
                <a:tab pos="607756" algn="l"/>
                <a:tab pos="1022528" algn="l"/>
                <a:tab pos="1437300" algn="l"/>
                <a:tab pos="1852071" algn="l"/>
                <a:tab pos="2266843" algn="l"/>
                <a:tab pos="2681615" algn="l"/>
                <a:tab pos="3096387" algn="l"/>
                <a:tab pos="3511159" algn="l"/>
                <a:tab pos="3925931" algn="l"/>
                <a:tab pos="4340703" algn="l"/>
                <a:tab pos="4755474" algn="l"/>
                <a:tab pos="5170246" algn="l"/>
                <a:tab pos="5585018" algn="l"/>
                <a:tab pos="5999790" algn="l"/>
                <a:tab pos="6414562" algn="l"/>
                <a:tab pos="6829334" algn="l"/>
                <a:tab pos="7244105" algn="l"/>
                <a:tab pos="7658877" algn="l"/>
                <a:tab pos="8073649" algn="l"/>
                <a:tab pos="8488421" algn="l"/>
              </a:tabLst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id="{8CC02028-A916-DC97-AB6F-30E1C51AD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50" y="273629"/>
            <a:ext cx="8017322" cy="1129079"/>
          </a:xfrm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Different Types of Processes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2E9F7FF-17AF-C356-7926-6B6DE2AA9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2901" cy="3961855"/>
          </a:xfrm>
        </p:spPr>
        <p:txBody>
          <a:bodyPr/>
          <a:lstStyle/>
          <a:p>
            <a:pPr marL="506943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There are four types of processes:</a:t>
            </a:r>
          </a:p>
          <a:p>
            <a:pPr marL="869869" lvl="1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Running: current process that is being executed in the operating system</a:t>
            </a:r>
          </a:p>
          <a:p>
            <a:pPr marL="869869" lvl="1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Waiting: process which is waiting for system resources to run</a:t>
            </a:r>
          </a:p>
          <a:p>
            <a:pPr marL="869869" lvl="1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Stopped: process that is not running</a:t>
            </a:r>
          </a:p>
          <a:p>
            <a:pPr marL="869869" lvl="1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Zombie: process whose parent processes has ended, but the child process is still in the process table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>
            <a:extLst>
              <a:ext uri="{FF2B5EF4-FFF2-40B4-BE49-F238E27FC236}">
                <a16:creationId xmlns:a16="http://schemas.microsoft.com/office/drawing/2014/main" id="{DE4771A3-5E14-4EF2-B3B2-240C0300F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50" y="190100"/>
            <a:ext cx="8017322" cy="1296136"/>
          </a:xfrm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Viewing Processes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508BA2E-578D-53AC-8503-FF1B87E7E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2901" cy="1676336"/>
          </a:xfrm>
        </p:spPr>
        <p:txBody>
          <a:bodyPr/>
          <a:lstStyle/>
          <a:p>
            <a:pPr marL="506943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Two commands you can use to view the process from the command line: </a:t>
            </a:r>
            <a:r>
              <a:rPr lang="en-US" altLang="en-US" b="1"/>
              <a:t>ps </a:t>
            </a:r>
            <a:r>
              <a:rPr lang="en-US" altLang="en-US"/>
              <a:t>and </a:t>
            </a:r>
            <a:r>
              <a:rPr lang="en-US" altLang="en-US" b="1"/>
              <a:t>top</a:t>
            </a:r>
            <a:endParaRPr lang="en-US" altLang="en-US"/>
          </a:p>
          <a:p>
            <a:pPr marL="506943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To view all the processes with </a:t>
            </a:r>
            <a:r>
              <a:rPr lang="en-US" altLang="en-US" b="1"/>
              <a:t>ps, </a:t>
            </a:r>
            <a:r>
              <a:rPr lang="en-US" altLang="en-US"/>
              <a:t> use </a:t>
            </a:r>
            <a:r>
              <a:rPr lang="en-US" altLang="en-US" b="1"/>
              <a:t>ps -ef</a:t>
            </a:r>
            <a:endParaRPr lang="en-US" altLang="en-US"/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9C3FDF56-FB62-6AC0-49D0-533185EEE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856" y="4079950"/>
            <a:ext cx="3940254" cy="193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4">
            <a:extLst>
              <a:ext uri="{FF2B5EF4-FFF2-40B4-BE49-F238E27FC236}">
                <a16:creationId xmlns:a16="http://schemas.microsoft.com/office/drawing/2014/main" id="{437A126E-D7C4-CD95-49F5-9D30FBAB5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757" y="4079950"/>
            <a:ext cx="4010822" cy="193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5">
            <a:extLst>
              <a:ext uri="{FF2B5EF4-FFF2-40B4-BE49-F238E27FC236}">
                <a16:creationId xmlns:a16="http://schemas.microsoft.com/office/drawing/2014/main" id="{ED76BD2C-5BA2-0234-710F-BBB7D5210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2656" y="6209932"/>
            <a:ext cx="1866436" cy="343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633"/>
              <a:t>ps -ef</a:t>
            </a:r>
          </a:p>
        </p:txBody>
      </p:sp>
      <p:sp>
        <p:nvSpPr>
          <p:cNvPr id="20487" name="TextBox 6">
            <a:extLst>
              <a:ext uri="{FF2B5EF4-FFF2-40B4-BE49-F238E27FC236}">
                <a16:creationId xmlns:a16="http://schemas.microsoft.com/office/drawing/2014/main" id="{839AF8C7-3685-45F6-3EE4-7378E720B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5055" y="6263218"/>
            <a:ext cx="1313418" cy="343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633"/>
              <a:t>top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id="{B61D2546-5963-83A0-F7B8-46B4BD079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50" y="273629"/>
            <a:ext cx="8017322" cy="1129079"/>
          </a:xfrm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Ending a Process In Linux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E0BAA5E-BF1C-16F7-66ED-A66C915506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2901" cy="3961855"/>
          </a:xfrm>
        </p:spPr>
        <p:txBody>
          <a:bodyPr/>
          <a:lstStyle/>
          <a:p>
            <a:pPr marL="506943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 sz="1814"/>
              <a:t>Sometimes you need to end a program or process from the command line. Use the following steps:</a:t>
            </a:r>
          </a:p>
          <a:p>
            <a:pPr marL="869869" lvl="1" indent="-505504">
              <a:buSzPct val="45000"/>
              <a:buFont typeface="Open Sans" panose="020B0606030504020204" pitchFamily="34" charset="0"/>
              <a:buAutoNum type="arabicPeriod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 sz="1814"/>
              <a:t>Locate the process id [PID] of the process/program you want to kill</a:t>
            </a:r>
          </a:p>
          <a:p>
            <a:pPr marL="869869" lvl="1" indent="-505504">
              <a:buSzPct val="45000"/>
              <a:buFont typeface="Open Sans" panose="020B0606030504020204" pitchFamily="34" charset="0"/>
              <a:buAutoNum type="arabicPeriod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 sz="1814"/>
              <a:t>Use the </a:t>
            </a:r>
            <a:r>
              <a:rPr lang="en-US" altLang="en-US" sz="1814" b="1"/>
              <a:t>kill</a:t>
            </a:r>
            <a:r>
              <a:rPr lang="en-US" altLang="en-US" sz="1814"/>
              <a:t> command with the following syntax: </a:t>
            </a:r>
            <a:r>
              <a:rPr lang="en-US" altLang="en-US" sz="1814" b="1"/>
              <a:t>kill [PID]</a:t>
            </a:r>
            <a:endParaRPr lang="en-US" altLang="en-US" sz="1814"/>
          </a:p>
          <a:p>
            <a:pPr marL="869869" lvl="1" indent="-505504">
              <a:buSzPct val="45000"/>
              <a:buFont typeface="Open Sans" panose="020B0606030504020204" pitchFamily="34" charset="0"/>
              <a:buAutoNum type="arabicPeriod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 sz="1814"/>
              <a:t>If the process is still running, do the following: </a:t>
            </a:r>
            <a:r>
              <a:rPr lang="en-US" altLang="en-US" sz="1814" b="1"/>
              <a:t>kill -9 [PID]</a:t>
            </a:r>
          </a:p>
          <a:p>
            <a:pPr marL="869869" lvl="1" indent="-505504">
              <a:buSzPct val="45000"/>
              <a:buFont typeface="Open Sans" panose="020B0606030504020204" pitchFamily="34" charset="0"/>
              <a:buAutoNum type="arabicPeriod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 sz="1814"/>
              <a:t>The -9 is a SIGKILL signal telling the process to terminate immediately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98D0ED2A-9F04-145A-6D55-ABA1F465B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7350" y="273629"/>
            <a:ext cx="8017322" cy="1129079"/>
          </a:xfrm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Ending All Process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EDBDBD3E-3E8F-ED9F-9292-82A6564C9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77349" y="1960047"/>
            <a:ext cx="7822901" cy="3961855"/>
          </a:xfrm>
        </p:spPr>
        <p:txBody>
          <a:bodyPr/>
          <a:lstStyle/>
          <a:p>
            <a:pPr marL="506943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You can use the </a:t>
            </a:r>
            <a:r>
              <a:rPr lang="en-US" altLang="en-US" b="1"/>
              <a:t>killall</a:t>
            </a:r>
            <a:r>
              <a:rPr lang="en-US" altLang="en-US"/>
              <a:t> command to kill multiple processes at the same time</a:t>
            </a:r>
          </a:p>
          <a:p>
            <a:pPr marL="506943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Syntax: </a:t>
            </a:r>
            <a:r>
              <a:rPr lang="en-US" altLang="en-US" b="1"/>
              <a:t>killall [options] PIDs</a:t>
            </a:r>
          </a:p>
          <a:p>
            <a:pPr marL="506943" indent="-505504">
              <a:buSzPct val="45000"/>
              <a:buFont typeface="Wingdings" pitchFamily="2" charset="2"/>
              <a:buChar char=""/>
              <a:tabLst>
                <a:tab pos="506943" algn="l"/>
                <a:tab pos="609197" algn="l"/>
                <a:tab pos="1023968" algn="l"/>
                <a:tab pos="1438740" algn="l"/>
                <a:tab pos="1853512" algn="l"/>
                <a:tab pos="2268284" algn="l"/>
                <a:tab pos="2683056" algn="l"/>
                <a:tab pos="3097828" algn="l"/>
                <a:tab pos="3512599" algn="l"/>
                <a:tab pos="3927371" algn="l"/>
                <a:tab pos="4342143" algn="l"/>
                <a:tab pos="4756915" algn="l"/>
                <a:tab pos="5171687" algn="l"/>
                <a:tab pos="5586459" algn="l"/>
                <a:tab pos="6001231" algn="l"/>
                <a:tab pos="6416002" algn="l"/>
                <a:tab pos="6830774" algn="l"/>
                <a:tab pos="7245546" algn="l"/>
                <a:tab pos="7660318" algn="l"/>
                <a:tab pos="8075090" algn="l"/>
                <a:tab pos="8489862" algn="l"/>
              </a:tabLst>
            </a:pPr>
            <a:r>
              <a:rPr lang="en-US" altLang="en-US"/>
              <a:t>Or you can  use</a:t>
            </a:r>
            <a:r>
              <a:rPr lang="en-US" altLang="en-US" b="1"/>
              <a:t> pkill –u [username]</a:t>
            </a:r>
            <a:r>
              <a:rPr lang="en-US" altLang="en-US"/>
              <a:t> to kill all processes started by [username]</a:t>
            </a:r>
            <a:endParaRPr lang="en-US" altLang="en-US" b="1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7E2F8C-9034-9836-6FEF-3757B42C6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Walk-through of /proc filesystem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0A9B93-AFDB-AA50-C74C-94FF9E5BD1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90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54D9-DB69-1732-F6A8-BF782122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/proc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 filesystem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9C7BE-6A49-56D5-B9E4-A59E4BD1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None/>
            </a:pP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/proc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 filesystem (also called the </a:t>
            </a:r>
            <a:r>
              <a:rPr lang="en-SG" b="1" i="0" u="none" strike="noStrike" dirty="0" err="1">
                <a:solidFill>
                  <a:srgbClr val="000000"/>
                </a:solidFill>
                <a:effectLst/>
              </a:rPr>
              <a:t>procfs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) is a virtual filesystem in Linux that provides a mechanism to access kernel and process information in real time. It is mounted at </a:t>
            </a: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/proc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 and does not contain actual files but rather kernel-generated information.</a:t>
            </a:r>
          </a:p>
          <a:p>
            <a:pPr algn="l">
              <a:buNone/>
            </a:pP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Key Features of /proc</a:t>
            </a:r>
          </a:p>
          <a:p>
            <a:pPr algn="l">
              <a:buFont typeface="+mj-lt"/>
              <a:buAutoNum type="arabicPeriod"/>
            </a:pP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Virtual Filesystem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: It is not stored on a disk but dynamically generated by the kernel.</a:t>
            </a:r>
          </a:p>
          <a:p>
            <a:pPr algn="l">
              <a:buFont typeface="+mj-lt"/>
              <a:buAutoNum type="arabicPeriod"/>
            </a:pP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Real-Time Information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: Provides up-to-date information about processes and system performance.</a:t>
            </a:r>
          </a:p>
          <a:p>
            <a:pPr algn="l">
              <a:buFont typeface="+mj-lt"/>
              <a:buAutoNum type="arabicPeriod"/>
            </a:pP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Interface to Kernel Data Structures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: Used for retrieving and modifying kernel parameters.</a:t>
            </a:r>
          </a:p>
          <a:p>
            <a:pPr algn="l">
              <a:buFont typeface="+mj-lt"/>
              <a:buAutoNum type="arabicPeriod"/>
            </a:pPr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User &amp; Kernel Space Interaction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: Allows processes to communicate with the kernel.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565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1F9A945-B03F-D100-5F7C-A638DC273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Process-Specific Directories (/proc/&lt;PID&gt;/)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Each running process has a directory named after its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Process ID (PID)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.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/proc/1/ → Information about process with PID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(usually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init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 or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systemd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).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/proc/self/ → Represents the current process accessing it.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Common Files in /proc/&lt;PID&gt;/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C3019B-885F-9B73-0A50-36FFBC3CE9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900545"/>
              </p:ext>
            </p:extLst>
          </p:nvPr>
        </p:nvGraphicFramePr>
        <p:xfrm>
          <a:off x="5987738" y="757583"/>
          <a:ext cx="5628019" cy="5109968"/>
        </p:xfrm>
        <a:graphic>
          <a:graphicData uri="http://schemas.openxmlformats.org/drawingml/2006/table">
            <a:tbl>
              <a:tblPr/>
              <a:tblGrid>
                <a:gridCol w="1128269">
                  <a:extLst>
                    <a:ext uri="{9D8B030D-6E8A-4147-A177-3AD203B41FA5}">
                      <a16:colId xmlns:a16="http://schemas.microsoft.com/office/drawing/2014/main" val="3124079675"/>
                    </a:ext>
                  </a:extLst>
                </a:gridCol>
                <a:gridCol w="4499750">
                  <a:extLst>
                    <a:ext uri="{9D8B030D-6E8A-4147-A177-3AD203B41FA5}">
                      <a16:colId xmlns:a16="http://schemas.microsoft.com/office/drawing/2014/main" val="3803877231"/>
                    </a:ext>
                  </a:extLst>
                </a:gridCol>
              </a:tblGrid>
              <a:tr h="411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File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72223"/>
                  </a:ext>
                </a:extLst>
              </a:tr>
              <a:tr h="411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cmdline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Command-line arguments of the process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615421"/>
                  </a:ext>
                </a:extLst>
              </a:tr>
              <a:tr h="692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cwd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Symlink to the process's current working directory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420113"/>
                  </a:ext>
                </a:extLst>
              </a:tr>
              <a:tr h="411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environ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Environment variables of the process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484631"/>
                  </a:ext>
                </a:extLst>
              </a:tr>
              <a:tr h="692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exe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Symlink to the executable file of the process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741586"/>
                  </a:ext>
                </a:extLst>
              </a:tr>
              <a:tr h="692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fd/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Directory containing file descriptors opened by the process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995666"/>
                  </a:ext>
                </a:extLst>
              </a:tr>
              <a:tr h="692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status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General information about the process (state, memory, etc.)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001555"/>
                  </a:ext>
                </a:extLst>
              </a:tr>
              <a:tr h="6925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stat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Detailed process statistics (CPU time, memory usage, etc.)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520125"/>
                  </a:ext>
                </a:extLst>
              </a:tr>
              <a:tr h="411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limits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SG" sz="1800" b="0" i="0" u="none" strike="noStrike">
                          <a:effectLst/>
                          <a:latin typeface="Arial" panose="020B0604020202020204" pitchFamily="34" charset="0"/>
                        </a:rPr>
                        <a:t>Resource limits for the process</a:t>
                      </a:r>
                    </a:p>
                  </a:txBody>
                  <a:tcPr marL="93589" marR="93589" marT="46795" marB="467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76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297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F9503-5E15-B4E8-C442-1BE24CC70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System-Wide Information (</a:t>
            </a:r>
            <a:r>
              <a:rPr kumimoji="0" lang="en-US" altLang="en-US" sz="3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 panose="020B0604020202020204" pitchFamily="34" charset="-128"/>
              </a:rPr>
              <a:t>/proc/</a:t>
            </a:r>
            <a:r>
              <a:rPr kumimoji="0" lang="en-US" altLang="en-US" sz="3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 </a:t>
            </a:r>
            <a:r>
              <a:rPr kumimoji="0" lang="en-US" altLang="en-US" sz="3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Top-Level Files)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1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952F47-BB5C-5F9E-FD3D-D875185F33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4432721"/>
              </p:ext>
            </p:extLst>
          </p:nvPr>
        </p:nvGraphicFramePr>
        <p:xfrm>
          <a:off x="1667117" y="2112579"/>
          <a:ext cx="8881706" cy="4192810"/>
        </p:xfrm>
        <a:graphic>
          <a:graphicData uri="http://schemas.openxmlformats.org/drawingml/2006/table">
            <a:tbl>
              <a:tblPr/>
              <a:tblGrid>
                <a:gridCol w="3402472">
                  <a:extLst>
                    <a:ext uri="{9D8B030D-6E8A-4147-A177-3AD203B41FA5}">
                      <a16:colId xmlns:a16="http://schemas.microsoft.com/office/drawing/2014/main" val="2369881941"/>
                    </a:ext>
                  </a:extLst>
                </a:gridCol>
                <a:gridCol w="5479234">
                  <a:extLst>
                    <a:ext uri="{9D8B030D-6E8A-4147-A177-3AD203B41FA5}">
                      <a16:colId xmlns:a16="http://schemas.microsoft.com/office/drawing/2014/main" val="189414972"/>
                    </a:ext>
                  </a:extLst>
                </a:gridCol>
              </a:tblGrid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File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Description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10475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/proc/cpuinfo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Detailed information about the CPU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061578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/proc/meminfo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Memory usage statistics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003527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/proc/uptime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System uptime (time since last boot)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640252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/proc/loadavg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System load averages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774835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/proc/partitions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List of recognized partitions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235482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/proc/mounts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Mounted filesystems information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931915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/proc/filesystems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Supported filesystems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083545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/proc/net/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Network-related details (interfaces, connections)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22096"/>
                  </a:ext>
                </a:extLst>
              </a:tr>
              <a:tr h="419281">
                <a:tc>
                  <a:txBody>
                    <a:bodyPr/>
                    <a:lstStyle/>
                    <a:p>
                      <a:r>
                        <a:rPr lang="en-SG" sz="1900"/>
                        <a:t>/proc/sys/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SG" sz="1900"/>
                        <a:t>Kernel tunable parameters (modifiable via sysctl)</a:t>
                      </a:r>
                    </a:p>
                  </a:txBody>
                  <a:tcPr marL="95291" marR="95291" marT="47646" marB="476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337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496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9150-0513-916E-B255-65068AE8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i="0" u="none" strike="noStrike" dirty="0">
                <a:solidFill>
                  <a:srgbClr val="000000"/>
                </a:solidFill>
                <a:effectLst/>
              </a:rPr>
              <a:t>Kernel Configuration (/proc/sys/)</a:t>
            </a:r>
            <a:br>
              <a:rPr lang="en-SG" b="1" i="0" u="none" strike="noStrike" dirty="0">
                <a:solidFill>
                  <a:srgbClr val="000000"/>
                </a:solidFill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BF0A1-F4EC-3701-23F5-12989AEE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This allows runtime configuration of the kernel parameters.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/proc/sys/kernel/ → General kernel settings (e.g., hostname, </a:t>
            </a:r>
            <a:r>
              <a:rPr lang="en-SG" b="0" i="0" u="none" strike="noStrike" dirty="0" err="1">
                <a:solidFill>
                  <a:srgbClr val="000000"/>
                </a:solidFill>
                <a:effectLst/>
              </a:rPr>
              <a:t>pid_max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/proc/sys/</a:t>
            </a:r>
            <a:r>
              <a:rPr lang="en-SG" b="0" i="0" u="none" strike="noStrike" dirty="0" err="1">
                <a:solidFill>
                  <a:srgbClr val="000000"/>
                </a:solidFill>
                <a:effectLst/>
              </a:rPr>
              <a:t>vm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/ → Virtual memory settings (</a:t>
            </a:r>
            <a:r>
              <a:rPr lang="en-SG" b="0" i="0" u="none" strike="noStrike" dirty="0" err="1">
                <a:solidFill>
                  <a:srgbClr val="000000"/>
                </a:solidFill>
                <a:effectLst/>
              </a:rPr>
              <a:t>swappiness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, </a:t>
            </a:r>
            <a:r>
              <a:rPr lang="en-SG" b="0" i="0" u="none" strike="noStrike" dirty="0" err="1">
                <a:solidFill>
                  <a:srgbClr val="000000"/>
                </a:solidFill>
                <a:effectLst/>
              </a:rPr>
              <a:t>dirty_ratio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/proc/sys/net/ → Networking settings (ipv4, ipv6, firewall tuning).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/proc/sys/fs/ → Filesystem settings (file-max, </a:t>
            </a:r>
            <a:r>
              <a:rPr lang="en-SG" b="0" i="0" u="none" strike="noStrike" dirty="0" err="1">
                <a:solidFill>
                  <a:srgbClr val="000000"/>
                </a:solidFill>
                <a:effectLst/>
              </a:rPr>
              <a:t>inode</a:t>
            </a:r>
            <a:r>
              <a:rPr lang="en-SG" b="0" i="0" u="none" strike="noStrike" dirty="0">
                <a:solidFill>
                  <a:srgbClr val="000000"/>
                </a:solidFill>
                <a:effectLst/>
              </a:rPr>
              <a:t>-max).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065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1697</Words>
  <Application>Microsoft Macintosh PowerPoint</Application>
  <PresentationFormat>Widescreen</PresentationFormat>
  <Paragraphs>204</Paragraphs>
  <Slides>25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Arial</vt:lpstr>
      <vt:lpstr>Arial Unicode MS</vt:lpstr>
      <vt:lpstr>Courier New</vt:lpstr>
      <vt:lpstr>Open Sans</vt:lpstr>
      <vt:lpstr>Times New Roman</vt:lpstr>
      <vt:lpstr>Wingdings</vt:lpstr>
      <vt:lpstr>Office Theme</vt:lpstr>
      <vt:lpstr>Linux Process Management</vt:lpstr>
      <vt:lpstr>What is a process?</vt:lpstr>
      <vt:lpstr>Process Descriptors</vt:lpstr>
      <vt:lpstr>PowerPoint Presentation</vt:lpstr>
      <vt:lpstr>Process State</vt:lpstr>
      <vt:lpstr>Process Identification</vt:lpstr>
      <vt:lpstr>Several dozen fields</vt:lpstr>
      <vt:lpstr>state-transition diagram</vt:lpstr>
      <vt:lpstr>A process needs ‘resources’</vt:lpstr>
      <vt:lpstr>The OS is a ‘resource manager’</vt:lpstr>
      <vt:lpstr>Examples: memory and files</vt:lpstr>
      <vt:lpstr>Backgrounrd &amp; Foreground Processes</vt:lpstr>
      <vt:lpstr>Moving a Process to the Background</vt:lpstr>
      <vt:lpstr>Background Process Example</vt:lpstr>
      <vt:lpstr>Moving back to the Foreground</vt:lpstr>
      <vt:lpstr>How do Processes Actually Work?</vt:lpstr>
      <vt:lpstr>Different Types of Processes</vt:lpstr>
      <vt:lpstr>Viewing Processes</vt:lpstr>
      <vt:lpstr>Ending a Process In Linux</vt:lpstr>
      <vt:lpstr>Ending All Process</vt:lpstr>
      <vt:lpstr>Walk-through of /proc filesystem</vt:lpstr>
      <vt:lpstr>The /proc filesystem</vt:lpstr>
      <vt:lpstr>PowerPoint Presentation</vt:lpstr>
      <vt:lpstr>System-Wide Information (/proc/ Top-Level Files) </vt:lpstr>
      <vt:lpstr>Kernel Configuration (/proc/sys/)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Manjunath Doddam</dc:creator>
  <cp:lastModifiedBy>Manjunath Doddam</cp:lastModifiedBy>
  <cp:revision>6</cp:revision>
  <dcterms:created xsi:type="dcterms:W3CDTF">2025-02-28T08:08:50Z</dcterms:created>
  <dcterms:modified xsi:type="dcterms:W3CDTF">2025-03-10T14:57:41Z</dcterms:modified>
</cp:coreProperties>
</file>