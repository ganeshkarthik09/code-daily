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9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84884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CFCDF-6202-9E43-A007-6AEEAB7087B2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EFD80-F65E-194F-8A77-E37A02956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are Services Managed in Linux?</a:t>
            </a:r>
          </a:p>
          <a:p>
            <a:r>
              <a:rPr lang="en-US" dirty="0"/>
              <a:t>Linux services were traditionally managed by </a:t>
            </a:r>
            <a:r>
              <a:rPr lang="en-US" b="1" dirty="0" err="1"/>
              <a:t>SysVinit</a:t>
            </a:r>
            <a:r>
              <a:rPr lang="en-US" dirty="0"/>
              <a:t> (older </a:t>
            </a:r>
            <a:r>
              <a:rPr lang="en-US" dirty="0" err="1"/>
              <a:t>init</a:t>
            </a:r>
            <a:r>
              <a:rPr lang="en-US" dirty="0"/>
              <a:t> system) but are now primarily managed by </a:t>
            </a:r>
            <a:r>
              <a:rPr lang="en-US" b="1" dirty="0" err="1"/>
              <a:t>systemd</a:t>
            </a:r>
            <a:r>
              <a:rPr lang="en-US" dirty="0"/>
              <a:t>, which 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Faster service startup with parallel execution.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Better dependency management.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Automatic service recovery and logging.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EFD80-F65E-194F-8A77-E37A02956E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3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systemd</a:t>
            </a:r>
            <a:r>
              <a:rPr lang="en-US" dirty="0"/>
              <a:t>-analyze plot &gt; </a:t>
            </a:r>
            <a:r>
              <a:rPr lang="en-US" dirty="0" err="1"/>
              <a:t>unit_chain.svg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EFD80-F65E-194F-8A77-E37A02956E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88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EFD80-F65E-194F-8A77-E37A02956E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61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E7A4-CA46-E743-02DF-339B5D394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81977-EEA8-7E97-C265-CD4AC142E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BB757-FD15-64E5-4628-AAF0CE15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D8419-9E1B-2689-C9D8-1B78B714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28682-2487-D123-534E-BD5C3E3E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8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45CBF-6C2F-4E78-C30F-0AF4C814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6E5C-B3A2-CDD6-2530-A4C51B5B2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5CC6E-465E-E5A0-AE01-D21922CC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C1335-FE0E-D26A-8B86-9E0650FF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338F5-0AA7-0522-3CF4-379CDFAD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A232-597F-7A39-9E48-21BA00D1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0858-BA7F-0648-D01F-E6F74936A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D31AB-4F17-2E13-5489-075362F60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DBD8C-AD84-21AF-649B-BE2C04EB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726B-43C1-52A8-2CA1-F17C8D6D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4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8463-6FBE-1A8E-F9D6-68F91111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0D1D8-2578-20F2-0634-355A26E293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58E29-C8A6-9D9F-5735-BF3148B33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E1D2E-72EF-5EDA-45F2-FBD020E42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B9CD2-9157-0385-7DAA-AF53A631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63496-5AA5-DDBB-812D-97AA9495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2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CC208-0DEF-878D-9343-5E57C1C18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DA94B-4FEC-9C29-7342-B88C68436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C45DE-0CDC-A70B-4B0C-C4316B771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CAEF3-B034-7CC8-AD86-D82E76955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D3C80-39F4-D070-F28B-B268BF311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AD14C-CDC2-8F61-679B-0819ED8B5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7145E-6036-4B41-E162-FC8B1F58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2D01F-935E-4DE0-BB31-155A3F05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3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BF11-9D65-F299-34E2-DAD724169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0F95A7-7F63-C9C9-FB72-3C227A6F9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EFD43-714D-8E15-5E43-1137868B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23CB0-29C7-DA29-0F00-16248EF9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42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A5D21-6CC6-6B38-A46F-74FCA821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1465F-24D3-F432-6E7C-63E4DB34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DF1D-1BF8-9ADE-A8E0-F997DE25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B9E12-8A7D-0C79-53EB-542AB692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AAF30-AF2D-5A72-E356-4AE62DB9D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9618-535A-4459-F1C6-9819ADBBC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81C0D-97F8-5F47-23E6-4BB020AD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58EA-6EC2-3D30-9515-8D4C41FE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6562F-CDEA-239C-3857-BB7835B2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3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62C4-C896-CFA4-9E8E-E7F6641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9A02F-96C3-5A21-2AFC-503EB2AA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790F0-1006-4A91-A2B1-23021598C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3DC04-8E84-FC3F-C6B0-7B54C39C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A9F51-2EB1-33CB-64B3-0DC5B725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9B7FD-0278-DE2D-2CAD-EA5C5008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4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C037-24E6-240A-9CC5-E9174C637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93585-8630-4B84-F35F-5261C9DE2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C1104-B96C-DCC6-B89C-305FAA36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D27F4-B535-F3B2-D3D4-07CC115D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A4524-873B-A02B-B250-B1AF3B51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8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EB6E32-CA40-6439-7BC9-3AE35D052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7F139-134B-BB00-54A0-908D2FC2E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110A3-FCFE-5FAA-8EE7-1211D754D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1A554-8DCB-2023-911A-011DBB7C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AFD8-ECD6-BBD4-232A-8559F947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3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C52DB-0CB7-8D59-A002-730889C1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46926-CEAD-65FF-1739-CC9700342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1FA2-043D-27CC-0209-469BF852E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0C357-D9B0-E242-A207-22FFD02A1B55}" type="datetimeFigureOut">
              <a:rPr lang="en-US" smtClean="0"/>
              <a:t>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BE674-B025-CC96-E679-B4B189AA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4B617-1E0F-1C14-F918-280ECE00D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861FC-C7A6-A54D-9AA8-08D59448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08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DC9F-E080-C95C-A0CA-5B8706825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Managing Services and Daemons</a:t>
            </a:r>
          </a:p>
        </p:txBody>
      </p:sp>
    </p:spTree>
    <p:extLst>
      <p:ext uri="{BB962C8B-B14F-4D97-AF65-F5344CB8AC3E}">
        <p14:creationId xmlns:p14="http://schemas.microsoft.com/office/powerpoint/2010/main" val="39946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B0C6-9BFA-CA81-D072-65325EA7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</a:t>
            </a:r>
            <a:r>
              <a:rPr lang="en-US" dirty="0" err="1"/>
              <a:t>systemd</a:t>
            </a:r>
            <a:r>
              <a:rPr lang="en-US" dirty="0"/>
              <a:t>: Managing and Monitoring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B8DE-1B19-8C23-45E1-095A35A45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to learn: </a:t>
            </a:r>
            <a:br>
              <a:rPr lang="en-US" dirty="0"/>
            </a:br>
            <a:r>
              <a:rPr lang="en-US" dirty="0"/>
              <a:t>- Why are services in Linux required to be managed?</a:t>
            </a:r>
            <a:br>
              <a:rPr lang="en-US" dirty="0"/>
            </a:br>
            <a:r>
              <a:rPr lang="en-US" dirty="0"/>
              <a:t>- What is </a:t>
            </a:r>
            <a:r>
              <a:rPr lang="en-US" dirty="0" err="1"/>
              <a:t>systemd</a:t>
            </a:r>
            <a:r>
              <a:rPr lang="en-US" dirty="0"/>
              <a:t>, its features and advantages over previous methods.</a:t>
            </a:r>
            <a:br>
              <a:rPr lang="en-US" dirty="0"/>
            </a:br>
            <a:r>
              <a:rPr lang="en-US" dirty="0"/>
              <a:t>- Understanding </a:t>
            </a:r>
            <a:r>
              <a:rPr lang="en-US" dirty="0" err="1"/>
              <a:t>systemd</a:t>
            </a:r>
            <a:r>
              <a:rPr lang="en-US" dirty="0"/>
              <a:t> in detail.</a:t>
            </a:r>
            <a:br>
              <a:rPr lang="en-US" dirty="0"/>
            </a:br>
            <a:r>
              <a:rPr lang="en-US" dirty="0"/>
              <a:t>- Best Practices.</a:t>
            </a:r>
          </a:p>
        </p:txBody>
      </p:sp>
    </p:spTree>
    <p:extLst>
      <p:ext uri="{BB962C8B-B14F-4D97-AF65-F5344CB8AC3E}">
        <p14:creationId xmlns:p14="http://schemas.microsoft.com/office/powerpoint/2010/main" val="172901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B38FE-CA62-AE4E-E205-BCA1CF4C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Services in Linux?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12FFB-74F8-9256-578D-32BF3E7F3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360"/>
            <a:ext cx="10515600" cy="469360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r>
              <a:rPr lang="en-US" dirty="0"/>
              <a:t> A service is a background process that runs continuously or on demand to provide system functionality.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Examples of services: </a:t>
            </a:r>
            <a:br>
              <a:rPr lang="en-US" b="1" dirty="0"/>
            </a:br>
            <a:r>
              <a:rPr lang="en-US" dirty="0" err="1"/>
              <a:t>sshd</a:t>
            </a:r>
            <a:r>
              <a:rPr lang="en-US" dirty="0"/>
              <a:t> – Secure Shell server</a:t>
            </a:r>
            <a:br>
              <a:rPr lang="en-US" dirty="0"/>
            </a:br>
            <a:r>
              <a:rPr lang="en-US" dirty="0" err="1"/>
              <a:t>cron</a:t>
            </a:r>
            <a:r>
              <a:rPr lang="en-US" dirty="0"/>
              <a:t> – Task scheduler</a:t>
            </a:r>
            <a:br>
              <a:rPr lang="en-US" dirty="0"/>
            </a:br>
            <a:r>
              <a:rPr lang="en-US" dirty="0"/>
              <a:t>nginx / apache2 – Web server</a:t>
            </a:r>
            <a:br>
              <a:rPr lang="en-US" dirty="0"/>
            </a:br>
            <a:r>
              <a:rPr lang="en-US" dirty="0" err="1"/>
              <a:t>mysqld</a:t>
            </a:r>
            <a:r>
              <a:rPr lang="en-US" dirty="0"/>
              <a:t> – Database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Manage Services?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dirty="0"/>
              <a:t>Ensure essential system components are always running</a:t>
            </a:r>
            <a:br>
              <a:rPr lang="en-US" dirty="0"/>
            </a:br>
            <a:r>
              <a:rPr lang="en-US" dirty="0"/>
              <a:t>- Automate service startup and recovery</a:t>
            </a:r>
            <a:br>
              <a:rPr lang="en-US" dirty="0"/>
            </a:br>
            <a:r>
              <a:rPr lang="en-US" dirty="0"/>
              <a:t>- Optimize resource usage and system performance</a:t>
            </a:r>
            <a:br>
              <a:rPr lang="en-US" dirty="0"/>
            </a:br>
            <a:r>
              <a:rPr lang="en-US" dirty="0"/>
              <a:t>- Improve security by controlling unwanted services</a:t>
            </a:r>
          </a:p>
        </p:txBody>
      </p:sp>
    </p:spTree>
    <p:extLst>
      <p:ext uri="{BB962C8B-B14F-4D97-AF65-F5344CB8AC3E}">
        <p14:creationId xmlns:p14="http://schemas.microsoft.com/office/powerpoint/2010/main" val="376779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1735-42F8-A53F-81FB-755DEB81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dirty="0" err="1"/>
              <a:t>systemd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FB424-7613-6F2A-3DD3-CF0DA99FF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is </a:t>
            </a:r>
            <a:r>
              <a:rPr lang="en-US" b="1" dirty="0" err="1"/>
              <a:t>systemd</a:t>
            </a:r>
            <a:r>
              <a:rPr lang="en-US" b="1" dirty="0"/>
              <a:t>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modern </a:t>
            </a:r>
            <a:r>
              <a:rPr lang="en-US" dirty="0" err="1"/>
              <a:t>init</a:t>
            </a:r>
            <a:r>
              <a:rPr lang="en-US" dirty="0"/>
              <a:t> system that manages system startup, services, and dependencies.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systemd</a:t>
            </a:r>
            <a:r>
              <a:rPr lang="en-US" dirty="0"/>
              <a:t> provides </a:t>
            </a:r>
            <a:r>
              <a:rPr lang="en-US" b="1" dirty="0"/>
              <a:t>parallel execution, dependency management, and monitoring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b="1" dirty="0"/>
              <a:t>Boot process orchestration</a:t>
            </a:r>
            <a:r>
              <a:rPr lang="en-US" dirty="0"/>
              <a:t> – It initializes system components and services.</a:t>
            </a:r>
          </a:p>
          <a:p>
            <a:pPr lvl="1"/>
            <a:r>
              <a:rPr lang="en-US" b="1" dirty="0"/>
              <a:t>Service management</a:t>
            </a:r>
            <a:r>
              <a:rPr lang="en-US" dirty="0"/>
              <a:t> – Starts, stops, and monitors background services.</a:t>
            </a:r>
          </a:p>
          <a:p>
            <a:pPr lvl="1"/>
            <a:r>
              <a:rPr lang="en-US" b="1" dirty="0"/>
              <a:t>Dependency resolution</a:t>
            </a:r>
            <a:r>
              <a:rPr lang="en-US" dirty="0"/>
              <a:t> – Ensures services start in the correct order.</a:t>
            </a:r>
          </a:p>
          <a:p>
            <a:pPr lvl="1"/>
            <a:r>
              <a:rPr lang="en-US" b="1" dirty="0"/>
              <a:t>Logging and monitoring</a:t>
            </a:r>
            <a:r>
              <a:rPr lang="en-US" dirty="0"/>
              <a:t> – Provides built-in logging with </a:t>
            </a:r>
            <a:r>
              <a:rPr lang="en-US" dirty="0" err="1"/>
              <a:t>journalctl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3195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6636-0ADA-7816-8521-673EDC43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</a:t>
            </a:r>
            <a:r>
              <a:rPr lang="en-US" dirty="0" err="1"/>
              <a:t>systemd</a:t>
            </a:r>
            <a:r>
              <a:rPr lang="en-US" dirty="0"/>
              <a:t>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77C75-A72C-3CB0-6AA0-39F940FD4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is a Unit?</a:t>
            </a:r>
            <a:br>
              <a:rPr lang="en-US" b="1" dirty="0"/>
            </a:br>
            <a:r>
              <a:rPr lang="en-US" dirty="0"/>
              <a:t>A configuration file that defines how a system resource behaves.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Common Unit Types:</a:t>
            </a:r>
            <a:br>
              <a:rPr lang="en-US" b="1" dirty="0"/>
            </a:br>
            <a:r>
              <a:rPr lang="en-US" dirty="0"/>
              <a:t>.service – Manages system services (e.g., </a:t>
            </a:r>
            <a:r>
              <a:rPr lang="en-US" dirty="0" err="1"/>
              <a:t>nginx.service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.target – Defines boot stages (e.g., multi-</a:t>
            </a:r>
            <a:r>
              <a:rPr lang="en-US" dirty="0" err="1"/>
              <a:t>user.target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.mount – Manages mount points</a:t>
            </a:r>
            <a:br>
              <a:rPr lang="en-US" dirty="0"/>
            </a:br>
            <a:r>
              <a:rPr lang="en-US" dirty="0"/>
              <a:t>.timer – Alternative to </a:t>
            </a:r>
            <a:r>
              <a:rPr lang="en-US" dirty="0" err="1"/>
              <a:t>cron</a:t>
            </a:r>
            <a:r>
              <a:rPr lang="en-US" dirty="0"/>
              <a:t> jobs</a:t>
            </a:r>
            <a:br>
              <a:rPr lang="en-US" dirty="0"/>
            </a:br>
            <a:r>
              <a:rPr lang="en-US" dirty="0"/>
              <a:t>.socket – Listens for network connections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Unit File Locations:</a:t>
            </a:r>
            <a:br>
              <a:rPr lang="en-US" b="1" dirty="0"/>
            </a:b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systemd</a:t>
            </a:r>
            <a:r>
              <a:rPr lang="en-US" dirty="0"/>
              <a:t>/system/ (User-defined or custom services)</a:t>
            </a:r>
            <a:br>
              <a:rPr lang="en-US" dirty="0"/>
            </a:br>
            <a:r>
              <a:rPr lang="en-US" dirty="0"/>
              <a:t>/lib/</a:t>
            </a:r>
            <a:r>
              <a:rPr lang="en-US" dirty="0" err="1"/>
              <a:t>systemd</a:t>
            </a:r>
            <a:r>
              <a:rPr lang="en-US" dirty="0"/>
              <a:t>/system/ (Default system services)</a:t>
            </a:r>
          </a:p>
        </p:txBody>
      </p:sp>
    </p:spTree>
    <p:extLst>
      <p:ext uri="{BB962C8B-B14F-4D97-AF65-F5344CB8AC3E}">
        <p14:creationId xmlns:p14="http://schemas.microsoft.com/office/powerpoint/2010/main" val="27556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88A61-F89B-93D8-6859-763ED9DF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Services with </a:t>
            </a:r>
            <a:r>
              <a:rPr lang="en-US" dirty="0" err="1"/>
              <a:t>systemctl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492E-8FF5-E54E-2A38-0B2B97657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Starting and Stopping Services: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systemctl</a:t>
            </a:r>
            <a:r>
              <a:rPr lang="en-US" dirty="0"/>
              <a:t> start &lt;service&gt; </a:t>
            </a:r>
            <a:br>
              <a:rPr lang="en-US" dirty="0"/>
            </a:br>
            <a:r>
              <a:rPr lang="en-US" dirty="0" err="1"/>
              <a:t>systemctl</a:t>
            </a:r>
            <a:r>
              <a:rPr lang="en-US" dirty="0"/>
              <a:t> stop &lt;service&gt; </a:t>
            </a:r>
          </a:p>
          <a:p>
            <a:r>
              <a:rPr lang="en-US" b="1" dirty="0"/>
              <a:t>Enabling and Disabling Services: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systemctl</a:t>
            </a:r>
            <a:r>
              <a:rPr lang="en-US" dirty="0"/>
              <a:t> enable &lt;service&gt; </a:t>
            </a:r>
            <a:br>
              <a:rPr lang="en-US" dirty="0"/>
            </a:br>
            <a:r>
              <a:rPr lang="en-US" dirty="0" err="1"/>
              <a:t>systemctl</a:t>
            </a:r>
            <a:r>
              <a:rPr lang="en-US" dirty="0"/>
              <a:t> disable &lt;service&gt; </a:t>
            </a:r>
          </a:p>
          <a:p>
            <a:r>
              <a:rPr lang="en-US" b="1" dirty="0"/>
              <a:t>Checking Service Status: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systemctl</a:t>
            </a:r>
            <a:r>
              <a:rPr lang="en-US" dirty="0"/>
              <a:t> status &lt;service&gt; </a:t>
            </a:r>
          </a:p>
          <a:p>
            <a:r>
              <a:rPr lang="en-US" b="1" dirty="0"/>
              <a:t>Restarting Services: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systemctl</a:t>
            </a:r>
            <a:r>
              <a:rPr lang="en-US" dirty="0"/>
              <a:t> restart &lt;service&gt; </a:t>
            </a:r>
          </a:p>
          <a:p>
            <a:r>
              <a:rPr lang="en-US" b="1" dirty="0"/>
              <a:t>Checking if a Service is Enabled at Boot: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systemctl</a:t>
            </a:r>
            <a:r>
              <a:rPr lang="en-US" dirty="0"/>
              <a:t> is-enabled &lt;service&gt;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6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17CB-AEAF-C42C-1735-FE128157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Monitoring &amp;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B7EA8-2619-127A-7155-17F8B73FD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Viewing Logs with </a:t>
            </a:r>
            <a:r>
              <a:rPr lang="en-US" b="1" dirty="0" err="1"/>
              <a:t>journalctl</a:t>
            </a:r>
            <a:r>
              <a:rPr lang="en-US" b="1" dirty="0"/>
              <a:t>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journalctl</a:t>
            </a:r>
            <a:r>
              <a:rPr lang="en-US" dirty="0"/>
              <a:t> -u &lt;service&gt;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Filtering logs: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Logs from the last: </a:t>
            </a:r>
            <a:r>
              <a:rPr lang="en-US" dirty="0" err="1"/>
              <a:t>journalctl</a:t>
            </a:r>
            <a:r>
              <a:rPr lang="en-US" dirty="0"/>
              <a:t> --since "1 hour ago"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Logs from a specific boot session: </a:t>
            </a:r>
            <a:r>
              <a:rPr lang="en-US" dirty="0" err="1"/>
              <a:t>journalctl</a:t>
            </a:r>
            <a:r>
              <a:rPr lang="en-US" dirty="0"/>
              <a:t> -b -1 </a:t>
            </a:r>
          </a:p>
          <a:p>
            <a:r>
              <a:rPr lang="en-US" b="1" dirty="0"/>
              <a:t>Following logs in real time (like tail -f):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journalctl</a:t>
            </a:r>
            <a:r>
              <a:rPr lang="en-US" dirty="0"/>
              <a:t> -u &lt;service&gt; -f</a:t>
            </a:r>
          </a:p>
        </p:txBody>
      </p:sp>
    </p:spTree>
    <p:extLst>
      <p:ext uri="{BB962C8B-B14F-4D97-AF65-F5344CB8AC3E}">
        <p14:creationId xmlns:p14="http://schemas.microsoft.com/office/powerpoint/2010/main" val="4052147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D562-8313-5E8E-344A-5EF3C93D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Custom </a:t>
            </a:r>
            <a:r>
              <a:rPr lang="en-US" dirty="0" err="1"/>
              <a:t>systemd</a:t>
            </a:r>
            <a:r>
              <a:rPr lang="en-US" dirty="0"/>
              <a:t>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7F442-46F5-F3A9-D547-64006470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Create a service file: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sudo</a:t>
            </a:r>
            <a:r>
              <a:rPr lang="en-US" dirty="0"/>
              <a:t> vim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systemd</a:t>
            </a:r>
            <a:r>
              <a:rPr lang="en-US" dirty="0"/>
              <a:t>/system/</a:t>
            </a:r>
            <a:r>
              <a:rPr lang="en-US" dirty="0" err="1"/>
              <a:t>myapp.service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Add the following content: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Reload </a:t>
            </a:r>
            <a:r>
              <a:rPr lang="en-US" dirty="0" err="1"/>
              <a:t>systemd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systemctl</a:t>
            </a:r>
            <a:r>
              <a:rPr lang="en-US" dirty="0"/>
              <a:t> daemon-reload</a:t>
            </a:r>
            <a:br>
              <a:rPr lang="en-US" dirty="0"/>
            </a:br>
            <a:endParaRPr lang="en-US" dirty="0"/>
          </a:p>
          <a:p>
            <a:r>
              <a:rPr lang="en-US" dirty="0"/>
              <a:t>Enable and start the service: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systemctl</a:t>
            </a:r>
            <a:r>
              <a:rPr lang="en-US" dirty="0"/>
              <a:t> enable --now </a:t>
            </a:r>
            <a:r>
              <a:rPr lang="en-US" dirty="0" err="1"/>
              <a:t>myapp.service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BE6A7-EC8B-FB08-864E-BFFC35D52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262" y="2170417"/>
            <a:ext cx="3589244" cy="36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26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4BC67-E940-4EFF-4864-1EC06684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&amp; Resource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EE307-E3D3-8107-AFFC-BDE69924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Controlling CPU and Memory Usage: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Limiting I/O Priority: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FDA79-0906-2427-996C-56188E37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692" y="2359193"/>
            <a:ext cx="2425700" cy="129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21941F-AEBD-17AB-0F30-1BCB50E25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692" y="5114364"/>
            <a:ext cx="1600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00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0172-D606-E662-3798-C43E1071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 &amp; Debugging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84C3C-15EE-210B-FD79-924EBBE55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Checking for Failed Services: 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systemctl</a:t>
            </a:r>
            <a:r>
              <a:rPr lang="en-US" dirty="0"/>
              <a:t> list-units --failed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Investigating a Service Failure:</a:t>
            </a:r>
            <a:br>
              <a:rPr lang="en-US" b="1" dirty="0"/>
            </a:br>
            <a:br>
              <a:rPr lang="en-US" b="1" dirty="0"/>
            </a:br>
            <a:r>
              <a:rPr lang="en-US" dirty="0" err="1"/>
              <a:t>journalctl</a:t>
            </a:r>
            <a:r>
              <a:rPr lang="en-US" dirty="0"/>
              <a:t> -</a:t>
            </a:r>
            <a:r>
              <a:rPr lang="en-US" dirty="0" err="1"/>
              <a:t>xe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Automatically Restarting a Service on Failure: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B2320-7008-F4F2-6FDC-E9D7F66B5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42" y="4894263"/>
            <a:ext cx="2438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6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882B-C22F-CAF2-0A00-832ED928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68A49-5575-AAE7-E45A-62D42F7C6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systemctl</a:t>
            </a:r>
            <a:r>
              <a:rPr lang="en-US" dirty="0"/>
              <a:t> for managing services efficiently.</a:t>
            </a:r>
          </a:p>
          <a:p>
            <a:r>
              <a:rPr lang="en-US" dirty="0"/>
              <a:t>Monitor logs with </a:t>
            </a:r>
            <a:r>
              <a:rPr lang="en-US" dirty="0" err="1"/>
              <a:t>journalctl</a:t>
            </a:r>
            <a:r>
              <a:rPr lang="en-US" dirty="0"/>
              <a:t> for troubleshooting.</a:t>
            </a:r>
          </a:p>
          <a:p>
            <a:r>
              <a:rPr lang="en-US" dirty="0"/>
              <a:t>Define custom services using unit files.</a:t>
            </a:r>
          </a:p>
          <a:p>
            <a:r>
              <a:rPr lang="en-US" dirty="0"/>
              <a:t>Set resource limits for better performance and security.</a:t>
            </a:r>
          </a:p>
          <a:p>
            <a:r>
              <a:rPr lang="en-US" dirty="0"/>
              <a:t>Automate service recovery using “Restart=“ options.</a:t>
            </a:r>
          </a:p>
        </p:txBody>
      </p:sp>
    </p:spTree>
    <p:extLst>
      <p:ext uri="{BB962C8B-B14F-4D97-AF65-F5344CB8AC3E}">
        <p14:creationId xmlns:p14="http://schemas.microsoft.com/office/powerpoint/2010/main" val="24881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4A55-496A-9ECA-5978-11850A29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6E18-3F64-C879-9CFF-C07A66788B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Secure Remote Access in Linux</a:t>
            </a:r>
          </a:p>
        </p:txBody>
      </p:sp>
    </p:spTree>
    <p:extLst>
      <p:ext uri="{BB962C8B-B14F-4D97-AF65-F5344CB8AC3E}">
        <p14:creationId xmlns:p14="http://schemas.microsoft.com/office/powerpoint/2010/main" val="340781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B15F-FBAF-9FCF-0F8C-E6A587EA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OpenSSH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F9F1F-F831-0BF4-D093-93DC49E54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is OpenSSH?</a:t>
            </a:r>
            <a:br>
              <a:rPr lang="en-US" b="1" dirty="0"/>
            </a:br>
            <a:r>
              <a:rPr lang="en-US" dirty="0"/>
              <a:t>- Open-source implementation of the Secure Shell (SSH) protocol.</a:t>
            </a:r>
            <a:br>
              <a:rPr lang="en-US" dirty="0"/>
            </a:br>
            <a:r>
              <a:rPr lang="en-US" dirty="0"/>
              <a:t>- Provides encrypted remote login, file transfers, and tunneling.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is SSH important?</a:t>
            </a:r>
            <a:br>
              <a:rPr lang="en-US" b="1" dirty="0"/>
            </a:br>
            <a:r>
              <a:rPr lang="en-US" dirty="0"/>
              <a:t>-</a:t>
            </a:r>
            <a:r>
              <a:rPr lang="en-US" b="1" dirty="0"/>
              <a:t> </a:t>
            </a:r>
            <a:r>
              <a:rPr lang="en-US" dirty="0"/>
              <a:t>Secure remote administration of Linux servers.</a:t>
            </a:r>
            <a:br>
              <a:rPr lang="en-US" dirty="0"/>
            </a:br>
            <a:r>
              <a:rPr lang="en-US" dirty="0"/>
              <a:t>- Prevents password sniffing and man-in-the-middle attacks.</a:t>
            </a:r>
            <a:br>
              <a:rPr lang="en-US" dirty="0"/>
            </a:br>
            <a:r>
              <a:rPr lang="en-US" dirty="0"/>
              <a:t>- Supports authentication, encryption, and port forwarding.</a:t>
            </a:r>
          </a:p>
        </p:txBody>
      </p:sp>
    </p:spTree>
    <p:extLst>
      <p:ext uri="{BB962C8B-B14F-4D97-AF65-F5344CB8AC3E}">
        <p14:creationId xmlns:p14="http://schemas.microsoft.com/office/powerpoint/2010/main" val="4198629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4D29-F69F-4CE5-1452-CF8AC8E9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OpenSSH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DEEC5-2234-91CA-468E-080A7F6F5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if OpenSSH is already installed</a:t>
            </a:r>
            <a:br>
              <a:rPr lang="en-US" dirty="0"/>
            </a:br>
            <a:r>
              <a:rPr lang="en-US" dirty="0"/>
              <a:t>ssh -V</a:t>
            </a:r>
          </a:p>
          <a:p>
            <a:r>
              <a:rPr lang="en-US" dirty="0"/>
              <a:t>Install based on the OS </a:t>
            </a:r>
            <a:r>
              <a:rPr lang="en-US" dirty="0" err="1"/>
              <a:t>falvour</a:t>
            </a:r>
            <a:br>
              <a:rPr lang="en-US" dirty="0"/>
            </a:br>
            <a:r>
              <a:rPr lang="en-US" dirty="0"/>
              <a:t>apt install </a:t>
            </a:r>
            <a:r>
              <a:rPr lang="en-US" dirty="0" err="1"/>
              <a:t>openssh</a:t>
            </a:r>
            <a:r>
              <a:rPr lang="en-US" dirty="0"/>
              <a:t>-server (</a:t>
            </a:r>
            <a:r>
              <a:rPr lang="en-US" dirty="0" err="1"/>
              <a:t>debian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yum install </a:t>
            </a:r>
            <a:r>
              <a:rPr lang="en-US" dirty="0" err="1"/>
              <a:t>openssh</a:t>
            </a:r>
            <a:r>
              <a:rPr lang="en-US" dirty="0"/>
              <a:t>-server (RHEL)</a:t>
            </a:r>
            <a:br>
              <a:rPr lang="en-US" dirty="0"/>
            </a:br>
            <a:r>
              <a:rPr lang="en-US" dirty="0" err="1"/>
              <a:t>pacman</a:t>
            </a:r>
            <a:r>
              <a:rPr lang="en-US" dirty="0"/>
              <a:t> -S </a:t>
            </a:r>
            <a:r>
              <a:rPr lang="en-US" dirty="0" err="1"/>
              <a:t>openssh</a:t>
            </a:r>
            <a:r>
              <a:rPr lang="en-US" dirty="0"/>
              <a:t> (Arch Linux)</a:t>
            </a:r>
          </a:p>
          <a:p>
            <a:r>
              <a:rPr lang="en-US" dirty="0"/>
              <a:t>Enable and start the service</a:t>
            </a:r>
            <a:br>
              <a:rPr lang="en-US" dirty="0"/>
            </a:br>
            <a:r>
              <a:rPr lang="en-US" dirty="0" err="1"/>
              <a:t>systemctl</a:t>
            </a:r>
            <a:r>
              <a:rPr lang="en-US" dirty="0"/>
              <a:t> enable --now ssh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02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3E16F-BD34-A2BB-C168-D770DF95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SSH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17D12-404D-FF6B-13C8-923832A4E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Connecting to a remote server:</a:t>
            </a:r>
            <a:br>
              <a:rPr lang="en-US" dirty="0"/>
            </a:br>
            <a:r>
              <a:rPr lang="en-US" dirty="0"/>
              <a:t>ssh </a:t>
            </a:r>
            <a:r>
              <a:rPr lang="en-US" dirty="0" err="1"/>
              <a:t>username@remote_host</a:t>
            </a:r>
            <a:endParaRPr lang="en-US" dirty="0"/>
          </a:p>
          <a:p>
            <a:r>
              <a:rPr lang="en-US" dirty="0"/>
              <a:t>Specifying a custom port:</a:t>
            </a:r>
            <a:br>
              <a:rPr lang="en-US" dirty="0"/>
            </a:br>
            <a:r>
              <a:rPr lang="en-US" dirty="0"/>
              <a:t>ssh -p 2222 </a:t>
            </a:r>
            <a:r>
              <a:rPr lang="en-US" dirty="0" err="1"/>
              <a:t>username@remote_host</a:t>
            </a:r>
            <a:endParaRPr lang="en-US" dirty="0"/>
          </a:p>
          <a:p>
            <a:r>
              <a:rPr lang="en-US" dirty="0"/>
              <a:t>Running a single command remotely:</a:t>
            </a:r>
            <a:br>
              <a:rPr lang="en-US" dirty="0"/>
            </a:br>
            <a:r>
              <a:rPr lang="en-US" dirty="0"/>
              <a:t>ssh </a:t>
            </a:r>
            <a:r>
              <a:rPr lang="en-US" dirty="0" err="1"/>
              <a:t>username@remote_host</a:t>
            </a:r>
            <a:r>
              <a:rPr lang="en-US" dirty="0"/>
              <a:t> "uptime"</a:t>
            </a:r>
          </a:p>
          <a:p>
            <a:r>
              <a:rPr lang="en-US" dirty="0"/>
              <a:t>Copying files with </a:t>
            </a:r>
            <a:r>
              <a:rPr lang="en-US" dirty="0" err="1"/>
              <a:t>scp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scp</a:t>
            </a:r>
            <a:r>
              <a:rPr lang="en-US" dirty="0"/>
              <a:t> </a:t>
            </a:r>
            <a:r>
              <a:rPr lang="en-US" dirty="0" err="1"/>
              <a:t>file.txt</a:t>
            </a:r>
            <a:r>
              <a:rPr lang="en-US" dirty="0"/>
              <a:t> </a:t>
            </a:r>
            <a:r>
              <a:rPr lang="en-US" dirty="0" err="1"/>
              <a:t>username@remote_host</a:t>
            </a:r>
            <a:r>
              <a:rPr lang="en-US" dirty="0"/>
              <a:t>:/destination/path/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01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C4DD-6DE7-FCC0-CBEE-5889FDC3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OpenSSH Server (</a:t>
            </a:r>
            <a:r>
              <a:rPr lang="en-US" dirty="0" err="1"/>
              <a:t>sshd_config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F778-E4D1-A316-6D3E-27946ED36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Location of SSH configuration file:</a:t>
            </a:r>
            <a:br>
              <a:rPr lang="en-US" dirty="0"/>
            </a:b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/ssh/</a:t>
            </a:r>
            <a:r>
              <a:rPr lang="en-US" dirty="0" err="1"/>
              <a:t>sshd_config</a:t>
            </a:r>
            <a:endParaRPr lang="en-US" dirty="0"/>
          </a:p>
          <a:p>
            <a:r>
              <a:rPr lang="en-US" dirty="0"/>
              <a:t>Some common configuration </a:t>
            </a:r>
            <a:r>
              <a:rPr lang="en-US" dirty="0" err="1"/>
              <a:t>opetions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Port</a:t>
            </a:r>
            <a:br>
              <a:rPr lang="en-US" dirty="0"/>
            </a:br>
            <a:r>
              <a:rPr lang="en-US" dirty="0" err="1"/>
              <a:t>PermitRootLogin</a:t>
            </a:r>
            <a:br>
              <a:rPr lang="en-US" dirty="0"/>
            </a:br>
            <a:r>
              <a:rPr lang="en-US" dirty="0" err="1"/>
              <a:t>AllowUsers</a:t>
            </a:r>
            <a:br>
              <a:rPr lang="en-US" dirty="0"/>
            </a:br>
            <a:r>
              <a:rPr lang="en-US" dirty="0" err="1"/>
              <a:t>PasswordAuthentication</a:t>
            </a:r>
            <a:endParaRPr lang="en-US" dirty="0"/>
          </a:p>
          <a:p>
            <a:r>
              <a:rPr lang="en-US" dirty="0"/>
              <a:t>Restarting SSH after changes:</a:t>
            </a:r>
            <a:br>
              <a:rPr lang="en-US" dirty="0"/>
            </a:br>
            <a:r>
              <a:rPr lang="en-US" dirty="0" err="1"/>
              <a:t>systemctl</a:t>
            </a:r>
            <a:r>
              <a:rPr lang="en-US" dirty="0"/>
              <a:t> restart </a:t>
            </a:r>
            <a:r>
              <a:rPr lang="en-US" dirty="0" err="1"/>
              <a:t>sshd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452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08AE-B189-4D97-6B7C-8787DE28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SSH with Key-Based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072C3-2913-8938-B3CF-D15A29BA9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112"/>
            <a:ext cx="10515600" cy="469385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Key-based authentication in SSH is a more secure way to log into a remote system </a:t>
            </a:r>
            <a:r>
              <a:rPr lang="en-US" b="1" dirty="0"/>
              <a:t>without using passwords</a:t>
            </a:r>
            <a:r>
              <a:rPr lang="en-US" dirty="0"/>
              <a:t>. Instead of entering a password every time, your computer uses a pair of cryptographic keys to prove your identity.</a:t>
            </a:r>
          </a:p>
          <a:p>
            <a:r>
              <a:rPr lang="en-US" dirty="0"/>
              <a:t>Generating an SSH key pair:</a:t>
            </a:r>
            <a:br>
              <a:rPr lang="en-US" dirty="0"/>
            </a:br>
            <a:r>
              <a:rPr lang="en-US" dirty="0"/>
              <a:t>ssh-keygen -t ed25519 -C "</a:t>
            </a:r>
            <a:r>
              <a:rPr lang="en-US" dirty="0" err="1"/>
              <a:t>your_email@example.com</a:t>
            </a:r>
            <a:r>
              <a:rPr lang="en-US" dirty="0"/>
              <a:t>"</a:t>
            </a:r>
          </a:p>
          <a:p>
            <a:r>
              <a:rPr lang="en-US" dirty="0"/>
              <a:t>Copying the public key to the remote server:</a:t>
            </a:r>
            <a:br>
              <a:rPr lang="en-US" dirty="0"/>
            </a:br>
            <a:r>
              <a:rPr lang="en-US" dirty="0"/>
              <a:t>ssh-copy-id </a:t>
            </a:r>
            <a:r>
              <a:rPr lang="en-US" dirty="0" err="1"/>
              <a:t>username@remote_host</a:t>
            </a:r>
            <a:endParaRPr lang="en-US" dirty="0"/>
          </a:p>
          <a:p>
            <a:r>
              <a:rPr lang="en-US" dirty="0"/>
              <a:t>Manually adding the key to ~/.ssh/</a:t>
            </a:r>
            <a:r>
              <a:rPr lang="en-US" dirty="0" err="1"/>
              <a:t>authorized_keys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cat ~/.ssh/</a:t>
            </a:r>
            <a:r>
              <a:rPr lang="en-US" dirty="0" err="1"/>
              <a:t>id_rsa.pub</a:t>
            </a:r>
            <a:r>
              <a:rPr lang="en-US" dirty="0"/>
              <a:t> &gt;&gt; ~/.ssh/</a:t>
            </a:r>
            <a:r>
              <a:rPr lang="en-US" dirty="0" err="1"/>
              <a:t>authorized_keys</a:t>
            </a:r>
            <a:br>
              <a:rPr lang="en-US" dirty="0"/>
            </a:br>
            <a:r>
              <a:rPr lang="en-US" dirty="0" err="1"/>
              <a:t>chmod</a:t>
            </a:r>
            <a:r>
              <a:rPr lang="en-US" dirty="0"/>
              <a:t> 600 ~/.ssh/</a:t>
            </a:r>
            <a:r>
              <a:rPr lang="en-US" dirty="0" err="1"/>
              <a:t>authorized_keys</a:t>
            </a:r>
            <a:endParaRPr lang="en-US" dirty="0"/>
          </a:p>
          <a:p>
            <a:r>
              <a:rPr lang="en-US" dirty="0"/>
              <a:t>Disabling password authentication (only allowing key-based authentication):</a:t>
            </a:r>
            <a:br>
              <a:rPr lang="en-US" dirty="0"/>
            </a:br>
            <a:r>
              <a:rPr lang="en-US" dirty="0" err="1"/>
              <a:t>PasswordAuthentication</a:t>
            </a:r>
            <a:r>
              <a:rPr lang="en-US" dirty="0"/>
              <a:t> no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328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A03D-5236-9B17-733F-B17E1248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PKI (Public Key Infrastructure)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97687-5E7A-4FFD-CB6F-FA80A870F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356"/>
            <a:ext cx="10515600" cy="50655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Public Key Infrastructure (PKI) is a </a:t>
            </a:r>
            <a:r>
              <a:rPr lang="en-US" b="1" dirty="0"/>
              <a:t>framework</a:t>
            </a:r>
            <a:r>
              <a:rPr lang="en-US" dirty="0"/>
              <a:t> that provides a secure way to </a:t>
            </a:r>
            <a:r>
              <a:rPr lang="en-US" b="1" dirty="0"/>
              <a:t>encrypt, authenticate, and verify digital communications</a:t>
            </a:r>
            <a:r>
              <a:rPr lang="en-US" dirty="0"/>
              <a:t> using cryptographic keys. It is widely used in </a:t>
            </a:r>
            <a:r>
              <a:rPr lang="en-US" b="1" dirty="0"/>
              <a:t>SSH, HTTPS, digital signatures, and secure emails</a:t>
            </a:r>
            <a:r>
              <a:rPr lang="en-US" dirty="0"/>
              <a:t> to ensure data integrity, confidentiality, and authentication.</a:t>
            </a:r>
          </a:p>
          <a:p>
            <a:r>
              <a:rPr lang="en-US" dirty="0"/>
              <a:t>PKI is built around </a:t>
            </a:r>
            <a:r>
              <a:rPr lang="en-US" b="1" dirty="0"/>
              <a:t>asymmetric encryption</a:t>
            </a:r>
            <a:r>
              <a:rPr lang="en-US" dirty="0"/>
              <a:t>, which uses two types of cryptographic keys:</a:t>
            </a:r>
            <a:br>
              <a:rPr lang="en-US" dirty="0"/>
            </a:br>
            <a:r>
              <a:rPr lang="en-US" dirty="0"/>
              <a:t>🔑 </a:t>
            </a:r>
            <a:r>
              <a:rPr lang="en-US" b="1" dirty="0"/>
              <a:t>Public Key</a:t>
            </a:r>
            <a:r>
              <a:rPr lang="en-US" dirty="0"/>
              <a:t> – This key is shared with others and is used for encryption or signature verification.</a:t>
            </a:r>
            <a:br>
              <a:rPr lang="en-US" dirty="0"/>
            </a:br>
            <a:r>
              <a:rPr lang="en-US" dirty="0"/>
              <a:t>🔒 </a:t>
            </a:r>
            <a:r>
              <a:rPr lang="en-US" b="1" dirty="0"/>
              <a:t>Private Key</a:t>
            </a:r>
            <a:r>
              <a:rPr lang="en-US" dirty="0"/>
              <a:t> – This key is kept secret and is used for decryption or signing messages.</a:t>
            </a:r>
          </a:p>
          <a:p>
            <a:r>
              <a:rPr lang="en-US" dirty="0"/>
              <a:t>Together, these keys enable </a:t>
            </a:r>
            <a:r>
              <a:rPr lang="en-US" b="1" dirty="0"/>
              <a:t>secure communication and authentication</a:t>
            </a:r>
            <a:r>
              <a:rPr lang="en-US" dirty="0"/>
              <a:t> without exposing private credentials.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55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B4DE-5D63-BD39-FDA8-6D43CCEC4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CD0A-77D4-F024-A30F-5BDF28A8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PKI in SSH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648AD-61CC-B503-604B-AB9F904EB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356"/>
            <a:ext cx="10515600" cy="5065519"/>
          </a:xfrm>
        </p:spPr>
        <p:txBody>
          <a:bodyPr>
            <a:normAutofit/>
          </a:bodyPr>
          <a:lstStyle/>
          <a:p>
            <a:r>
              <a:rPr lang="en-US" dirty="0"/>
              <a:t>SSH also benefits from PKI principles: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public key</a:t>
            </a:r>
            <a:r>
              <a:rPr lang="en-US" dirty="0"/>
              <a:t> is stored on the remote server (~/.ssh/</a:t>
            </a:r>
            <a:r>
              <a:rPr lang="en-US" dirty="0" err="1"/>
              <a:t>authorized_keys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private key</a:t>
            </a:r>
            <a:r>
              <a:rPr lang="en-US" dirty="0"/>
              <a:t> is stored on the client and never shared.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connecting, the client </a:t>
            </a:r>
            <a:r>
              <a:rPr lang="en-US" b="1" dirty="0"/>
              <a:t>proves ownership</a:t>
            </a:r>
            <a:r>
              <a:rPr lang="en-US" dirty="0"/>
              <a:t> of the private key, eliminating the need for passwords.</a:t>
            </a:r>
          </a:p>
          <a:p>
            <a:r>
              <a:rPr lang="en-US" dirty="0"/>
              <a:t>This makes SSH login more secure and resistant to brute-force attacks.</a:t>
            </a:r>
          </a:p>
          <a:p>
            <a:r>
              <a:rPr lang="en-US" dirty="0"/>
              <a:t>Further Reading: Authentication, Encryption, Integrity, PKI Handshake</a:t>
            </a:r>
          </a:p>
        </p:txBody>
      </p:sp>
    </p:spTree>
    <p:extLst>
      <p:ext uri="{BB962C8B-B14F-4D97-AF65-F5344CB8AC3E}">
        <p14:creationId xmlns:p14="http://schemas.microsoft.com/office/powerpoint/2010/main" val="4217169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4DEE-95DF-0133-A149-45F65503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Enhancing SSH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2B466-A91A-F4F4-AEAF-6CE56B610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Changing the default SSH port to something other than 22</a:t>
            </a:r>
          </a:p>
          <a:p>
            <a:r>
              <a:rPr lang="en-US" dirty="0"/>
              <a:t>Limiting SSH access to specific IPs</a:t>
            </a:r>
          </a:p>
          <a:p>
            <a:r>
              <a:rPr lang="en-US" dirty="0"/>
              <a:t>Using Fail2Ban to prevent brute-force attacks</a:t>
            </a:r>
          </a:p>
          <a:p>
            <a:r>
              <a:rPr lang="en-US" dirty="0"/>
              <a:t>Setting idle timeout for sessions</a:t>
            </a:r>
          </a:p>
          <a:p>
            <a:r>
              <a:rPr lang="en-US" dirty="0"/>
              <a:t>Setting Up Multi-Factor Authentication (MFA) with SSH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86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72841-DFE9-B5BB-BFD0-2F4C7F0A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SSH Tunneling and Port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D5AE-5F4E-C4EE-61EB-778CEEA88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cases: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dirty="0"/>
              <a:t>Securely accessing internal web apps.</a:t>
            </a:r>
            <a:br>
              <a:rPr lang="en-US" dirty="0"/>
            </a:br>
            <a:r>
              <a:rPr lang="en-US" dirty="0"/>
              <a:t>- Bypassing firewalls.</a:t>
            </a:r>
          </a:p>
          <a:p>
            <a:r>
              <a:rPr lang="en-US" dirty="0"/>
              <a:t>Local port forwarding (Access remote service locally):</a:t>
            </a:r>
            <a:br>
              <a:rPr lang="en-US" dirty="0"/>
            </a:br>
            <a:r>
              <a:rPr lang="en-US" dirty="0"/>
              <a:t>ssh -L 8080:localhost:80 </a:t>
            </a:r>
            <a:r>
              <a:rPr lang="en-US" dirty="0" err="1"/>
              <a:t>username@remote_host</a:t>
            </a:r>
            <a:endParaRPr lang="en-US" dirty="0"/>
          </a:p>
          <a:p>
            <a:r>
              <a:rPr lang="en-US" dirty="0"/>
              <a:t>Remote port forwarding (Expose local service to a remote server):</a:t>
            </a:r>
            <a:br>
              <a:rPr lang="en-US" dirty="0"/>
            </a:br>
            <a:r>
              <a:rPr lang="en-US" dirty="0"/>
              <a:t>ssh -R 9000:localhost:3000 </a:t>
            </a:r>
            <a:r>
              <a:rPr lang="en-US" dirty="0" err="1"/>
              <a:t>username@remote_host</a:t>
            </a:r>
            <a:endParaRPr lang="en-US" dirty="0"/>
          </a:p>
          <a:p>
            <a:r>
              <a:rPr lang="en-US" dirty="0"/>
              <a:t>Dynamic SOCKS proxy:</a:t>
            </a:r>
            <a:br>
              <a:rPr lang="en-US" dirty="0"/>
            </a:br>
            <a:r>
              <a:rPr lang="en-US" dirty="0"/>
              <a:t>ssh -D 8080 </a:t>
            </a:r>
            <a:r>
              <a:rPr lang="en-US" dirty="0" err="1"/>
              <a:t>username@remote_host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34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BF452-8A54-2DCC-3617-B7427CD49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and Logging SSH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923FB-3A7D-808B-282C-1C89B751C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Checking active SSH connections:</a:t>
            </a:r>
            <a:br>
              <a:rPr lang="en-US" dirty="0"/>
            </a:br>
            <a:r>
              <a:rPr lang="en-US" dirty="0"/>
              <a:t>- who</a:t>
            </a:r>
            <a:br>
              <a:rPr lang="en-US" dirty="0"/>
            </a:br>
            <a:r>
              <a:rPr lang="en-US" dirty="0"/>
              <a:t>- netstat -</a:t>
            </a:r>
            <a:r>
              <a:rPr lang="en-US" dirty="0" err="1"/>
              <a:t>tnpa</a:t>
            </a:r>
            <a:r>
              <a:rPr lang="en-US" dirty="0"/>
              <a:t> | grep </a:t>
            </a:r>
            <a:r>
              <a:rPr lang="en-US" dirty="0" err="1"/>
              <a:t>sshd</a:t>
            </a:r>
            <a:endParaRPr lang="en-US" dirty="0"/>
          </a:p>
          <a:p>
            <a:r>
              <a:rPr lang="en-US" dirty="0"/>
              <a:t>Reviewing SSH authentication logs: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journalctl</a:t>
            </a:r>
            <a:r>
              <a:rPr lang="en-US" dirty="0"/>
              <a:t> -u </a:t>
            </a:r>
            <a:r>
              <a:rPr lang="en-US" dirty="0" err="1"/>
              <a:t>sshd</a:t>
            </a:r>
            <a:r>
              <a:rPr lang="en-US" dirty="0"/>
              <a:t> --since "1 hour ago”</a:t>
            </a:r>
          </a:p>
          <a:p>
            <a:r>
              <a:rPr lang="en-US" dirty="0"/>
              <a:t>Detecting failed login attempts:</a:t>
            </a:r>
            <a:br>
              <a:rPr lang="en-US" dirty="0"/>
            </a:br>
            <a:r>
              <a:rPr lang="en-US" dirty="0"/>
              <a:t>- cat /var/log/</a:t>
            </a:r>
            <a:r>
              <a:rPr lang="en-US" dirty="0" err="1"/>
              <a:t>auth.log</a:t>
            </a:r>
            <a:r>
              <a:rPr lang="en-US" dirty="0"/>
              <a:t> | grep "Failed password"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01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441-FA18-0B71-94C4-87BC24E9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SSH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1286-0826-12BA-5D3F-ED3C32FBB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use SSH key authentication instead of passwords.</a:t>
            </a:r>
          </a:p>
          <a:p>
            <a:r>
              <a:rPr lang="en-US" dirty="0"/>
              <a:t>Use stronger encryption in ssh key generation</a:t>
            </a:r>
          </a:p>
          <a:p>
            <a:r>
              <a:rPr lang="en-US" dirty="0"/>
              <a:t>As a user, never share private key unless you know what you are doing. Only share public key if asked for (.pub)</a:t>
            </a:r>
          </a:p>
          <a:p>
            <a:r>
              <a:rPr lang="en-US" dirty="0"/>
              <a:t>Change the default SSH port.</a:t>
            </a:r>
          </a:p>
          <a:p>
            <a:r>
              <a:rPr lang="en-US" dirty="0"/>
              <a:t>Restrict access with firewall rules (e.g., UFW or iptables).</a:t>
            </a:r>
          </a:p>
          <a:p>
            <a:r>
              <a:rPr lang="en-US" dirty="0"/>
              <a:t>Regularly audit SSH logs for suspicious activity.</a:t>
            </a:r>
          </a:p>
        </p:txBody>
      </p:sp>
    </p:spTree>
    <p:extLst>
      <p:ext uri="{BB962C8B-B14F-4D97-AF65-F5344CB8AC3E}">
        <p14:creationId xmlns:p14="http://schemas.microsoft.com/office/powerpoint/2010/main" val="135942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1520</Words>
  <Application>Microsoft Macintosh PowerPoint</Application>
  <PresentationFormat>Widescreen</PresentationFormat>
  <Paragraphs>123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Managing Services and Daemons</vt:lpstr>
      <vt:lpstr>Linux systemd: Managing and Monitoring Services</vt:lpstr>
      <vt:lpstr>What are Services in Linux?</vt:lpstr>
      <vt:lpstr>Introduction to systemd</vt:lpstr>
      <vt:lpstr>Understanding systemd Units</vt:lpstr>
      <vt:lpstr>Managing Services with systemctl</vt:lpstr>
      <vt:lpstr>Service Monitoring &amp; Logging</vt:lpstr>
      <vt:lpstr>Creating Custom systemd Services</vt:lpstr>
      <vt:lpstr>System Performance &amp; Resource Limits</vt:lpstr>
      <vt:lpstr>Troubleshooting &amp; Debugging Services</vt:lpstr>
      <vt:lpstr>Best Practices</vt:lpstr>
      <vt:lpstr>Secure Remote Access in Linux</vt:lpstr>
      <vt:lpstr>Introduction to OpenSSH</vt:lpstr>
      <vt:lpstr>Installing OpenSSH</vt:lpstr>
      <vt:lpstr>Basic SSH Usage</vt:lpstr>
      <vt:lpstr>Configuring OpenSSH Server (sshd_config)</vt:lpstr>
      <vt:lpstr>Securing SSH with Key-Based Authentication</vt:lpstr>
      <vt:lpstr>Understanding PKI (Public Key Infrastructure)</vt:lpstr>
      <vt:lpstr>PKI in SSH Authentication</vt:lpstr>
      <vt:lpstr>Enhancing SSH Security</vt:lpstr>
      <vt:lpstr>Using SSH Tunneling and Port Forwarding</vt:lpstr>
      <vt:lpstr>Monitoring and Logging SSH Access</vt:lpstr>
      <vt:lpstr>Best Practices for SSH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Mathur</dc:creator>
  <cp:lastModifiedBy>Ayush Mathur</cp:lastModifiedBy>
  <cp:revision>1</cp:revision>
  <dcterms:created xsi:type="dcterms:W3CDTF">2025-02-21T05:58:10Z</dcterms:created>
  <dcterms:modified xsi:type="dcterms:W3CDTF">2025-02-21T09:12:55Z</dcterms:modified>
</cp:coreProperties>
</file>